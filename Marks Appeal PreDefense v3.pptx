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1"/>
  </p:sldMasterIdLst>
  <p:notesMasterIdLst>
    <p:notesMasterId r:id="rId13"/>
  </p:notesMasterIdLst>
  <p:sldIdLst>
    <p:sldId id="256" r:id="rId2"/>
    <p:sldId id="257" r:id="rId3"/>
    <p:sldId id="258" r:id="rId4"/>
    <p:sldId id="259" r:id="rId5"/>
    <p:sldId id="261" r:id="rId6"/>
    <p:sldId id="260" r:id="rId7"/>
    <p:sldId id="263" r:id="rId8"/>
    <p:sldId id="264" r:id="rId9"/>
    <p:sldId id="268" r:id="rId10"/>
    <p:sldId id="269" r:id="rId11"/>
    <p:sldId id="270"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2A0"/>
    <a:srgbClr val="AD7A54"/>
    <a:srgbClr val="F4A261"/>
    <a:srgbClr val="00B4D8"/>
    <a:srgbClr val="0D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4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399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25382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085039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8357370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232881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6/11/2026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5226282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61572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3307273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7877217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6/11/2026</a:t>
            </a:fld>
            <a:endParaRPr lang="en-US" dirty="0"/>
          </a:p>
        </p:txBody>
      </p:sp>
    </p:spTree>
    <p:extLst>
      <p:ext uri="{BB962C8B-B14F-4D97-AF65-F5344CB8AC3E}">
        <p14:creationId xmlns:p14="http://schemas.microsoft.com/office/powerpoint/2010/main" val="38318753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536609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10513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2172961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984440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623431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3001224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1470725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86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4AAD347D-5ACD-4C99-B74B-A9C85AD731AF}" type="datetimeFigureOut">
              <a:rPr lang="en-US" smtClean="0"/>
              <a:t>6/11/2026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593855106"/>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274320" y="274320"/>
            <a:ext cx="8595360" cy="320040"/>
          </a:xfrm>
          <a:prstGeom prst="rect">
            <a:avLst/>
          </a:prstGeom>
          <a:noFill/>
          <a:ln/>
        </p:spPr>
        <p:txBody>
          <a:bodyPr wrap="square" rtlCol="0" anchor="ctr"/>
          <a:lstStyle/>
          <a:p>
            <a:pPr marL="0" indent="0" algn="ctr">
              <a:buNone/>
            </a:pP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365760" y="777240"/>
            <a:ext cx="8412480" cy="822960"/>
          </a:xfrm>
          <a:prstGeom prst="rect">
            <a:avLst/>
          </a:prstGeom>
          <a:noFill/>
          <a:ln/>
        </p:spPr>
        <p:txBody>
          <a:bodyPr wrap="square" rtlCol="0" anchor="ctr"/>
          <a:lstStyle/>
          <a:p>
            <a:pPr marL="0" indent="0" algn="ctr">
              <a:buNone/>
            </a:pPr>
            <a:r>
              <a:rPr lang="en-US" sz="3200" b="1" dirty="0">
                <a:solidFill>
                  <a:srgbClr val="FFFFFF"/>
                </a:solidFill>
                <a:latin typeface="Tahoma" panose="020B0604030504040204" pitchFamily="34" charset="0"/>
                <a:ea typeface="Tahoma" panose="020B0604030504040204" pitchFamily="34" charset="0"/>
                <a:cs typeface="Tahoma" panose="020B0604030504040204" pitchFamily="34" charset="0"/>
              </a:rPr>
              <a:t>USSD-Based Marks Appeal System</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
        <p:nvSpPr>
          <p:cNvPr id="5" name="Text 3"/>
          <p:cNvSpPr/>
          <p:nvPr/>
        </p:nvSpPr>
        <p:spPr>
          <a:xfrm>
            <a:off x="365760" y="1554480"/>
            <a:ext cx="8412480" cy="594360"/>
          </a:xfrm>
          <a:prstGeom prst="rect">
            <a:avLst/>
          </a:prstGeom>
          <a:noFill/>
          <a:ln/>
        </p:spPr>
        <p:txBody>
          <a:bodyPr wrap="square" rtlCol="0" anchor="ctr"/>
          <a:lstStyle/>
          <a:p>
            <a:pPr marL="0" indent="0" algn="ctr">
              <a:buNone/>
            </a:pPr>
            <a:r>
              <a:rPr lang="en-US" sz="2400" dirty="0">
                <a:solidFill>
                  <a:srgbClr val="00B4D8"/>
                </a:solidFill>
                <a:latin typeface="Tahoma" panose="020B0604030504040204" pitchFamily="34" charset="0"/>
                <a:ea typeface="Tahoma" panose="020B0604030504040204" pitchFamily="34" charset="0"/>
                <a:cs typeface="Tahoma" panose="020B0604030504040204" pitchFamily="34" charset="0"/>
              </a:rPr>
              <a:t>with PIN-Secured Student Authentication</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6" name="Shape 4"/>
          <p:cNvSpPr/>
          <p:nvPr/>
        </p:nvSpPr>
        <p:spPr>
          <a:xfrm>
            <a:off x="2286000" y="2286000"/>
            <a:ext cx="4572000" cy="36576"/>
          </a:xfrm>
          <a:prstGeom prst="rect">
            <a:avLst/>
          </a:prstGeom>
          <a:solidFill>
            <a:srgbClr val="F4A261"/>
          </a:solidFill>
          <a:ln w="12700">
            <a:solidFill>
              <a:srgbClr val="F4A261"/>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365760" y="2423160"/>
            <a:ext cx="8412480" cy="365760"/>
          </a:xfrm>
          <a:prstGeom prst="rect">
            <a:avLst/>
          </a:prstGeom>
          <a:noFill/>
          <a:ln/>
        </p:spPr>
        <p:txBody>
          <a:bodyPr wrap="square" rtlCol="0" anchor="ctr"/>
          <a:lstStyle/>
          <a:p>
            <a:pPr marL="0" indent="0" algn="ctr">
              <a:buNone/>
            </a:pPr>
            <a:r>
              <a:rPr lang="en-US" sz="1400" i="1" dirty="0">
                <a:solidFill>
                  <a:srgbClr val="F0F4F8"/>
                </a:solidFill>
                <a:latin typeface="Tahoma" panose="020B0604030504040204" pitchFamily="34" charset="0"/>
                <a:ea typeface="Tahoma" panose="020B0604030504040204" pitchFamily="34" charset="0"/>
                <a:cs typeface="Tahoma" panose="020B0604030504040204" pitchFamily="34" charset="0"/>
              </a:rPr>
              <a:t>Case Study: University Libre de Kigali (ULK)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8" name="Text 6"/>
          <p:cNvSpPr/>
          <p:nvPr/>
        </p:nvSpPr>
        <p:spPr>
          <a:xfrm>
            <a:off x="365760" y="3017520"/>
            <a:ext cx="8412480" cy="320040"/>
          </a:xfrm>
          <a:prstGeom prst="rect">
            <a:avLst/>
          </a:prstGeom>
          <a:noFill/>
          <a:ln/>
        </p:spPr>
        <p:txBody>
          <a:bodyPr wrap="square" rtlCol="0" anchor="ctr"/>
          <a:lstStyle/>
          <a:p>
            <a:pPr marL="0" indent="0" algn="ctr">
              <a:buNone/>
            </a:pPr>
            <a:r>
              <a:rPr lang="en-US" sz="1300" dirty="0">
                <a:solidFill>
                  <a:srgbClr val="8DADC4"/>
                </a:solidFill>
                <a:latin typeface="Tahoma" panose="020B0604030504040204" pitchFamily="34" charset="0"/>
                <a:ea typeface="Tahoma" panose="020B0604030504040204" pitchFamily="34" charset="0"/>
                <a:cs typeface="Tahoma" panose="020B0604030504040204" pitchFamily="34" charset="0"/>
              </a:rPr>
              <a:t>BIKORIMANA Jean Baptiste  |  </a:t>
            </a:r>
            <a:r>
              <a:rPr lang="en-US" sz="1300" dirty="0">
                <a:solidFill>
                  <a:srgbClr val="FFFFFF"/>
                </a:solidFill>
                <a:latin typeface="Tahoma" panose="020B0604030504040204" pitchFamily="34" charset="0"/>
                <a:ea typeface="Tahoma" panose="020B0604030504040204" pitchFamily="34" charset="0"/>
                <a:cs typeface="Tahoma" panose="020B0604030504040204" pitchFamily="34" charset="0"/>
              </a:rPr>
              <a:t>Reg. No: 2205000458</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365760" y="3383280"/>
            <a:ext cx="8412480" cy="320040"/>
          </a:xfrm>
          <a:prstGeom prst="rect">
            <a:avLst/>
          </a:prstGeom>
          <a:noFill/>
          <a:ln/>
        </p:spPr>
        <p:txBody>
          <a:bodyPr wrap="square" rtlCol="0" anchor="ctr"/>
          <a:lstStyle/>
          <a:p>
            <a:pPr marL="0" indent="0" algn="ctr">
              <a:buNone/>
            </a:pPr>
            <a:r>
              <a:rPr lang="en-US" sz="1300" dirty="0">
                <a:solidFill>
                  <a:srgbClr val="8DADC4"/>
                </a:solidFill>
                <a:latin typeface="Tahoma" panose="020B0604030504040204" pitchFamily="34" charset="0"/>
                <a:ea typeface="Tahoma" panose="020B0604030504040204" pitchFamily="34" charset="0"/>
                <a:cs typeface="Tahoma" panose="020B0604030504040204" pitchFamily="34" charset="0"/>
              </a:rPr>
              <a:t>Supervisor: </a:t>
            </a:r>
            <a:r>
              <a:rPr lang="en-US" sz="1300" dirty="0">
                <a:solidFill>
                  <a:srgbClr val="F4A261"/>
                </a:solidFill>
                <a:latin typeface="Tahoma" panose="020B0604030504040204" pitchFamily="34" charset="0"/>
                <a:ea typeface="Tahoma" panose="020B0604030504040204" pitchFamily="34" charset="0"/>
                <a:cs typeface="Tahoma" panose="020B0604030504040204" pitchFamily="34" charset="0"/>
              </a:rPr>
              <a:t>Mr. ISHIMWE Olivier Angel Kevin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365760" y="3794760"/>
            <a:ext cx="8412480" cy="274320"/>
          </a:xfrm>
          <a:prstGeom prst="rect">
            <a:avLst/>
          </a:prstGeom>
          <a:noFill/>
          <a:ln/>
        </p:spPr>
        <p:txBody>
          <a:bodyPr wrap="square" rtlCol="0" anchor="ctr"/>
          <a:lstStyle/>
          <a:p>
            <a:pPr marL="0" indent="0" algn="ctr">
              <a:buNone/>
            </a:pPr>
            <a:r>
              <a:rPr lang="en-US" sz="1100" dirty="0">
                <a:solidFill>
                  <a:srgbClr val="8DADC4"/>
                </a:solidFill>
                <a:latin typeface="Tahoma" panose="020B0604030504040204" pitchFamily="34" charset="0"/>
                <a:ea typeface="Tahoma" panose="020B0604030504040204" pitchFamily="34" charset="0"/>
                <a:cs typeface="Tahoma" panose="020B0604030504040204" pitchFamily="34" charset="0"/>
              </a:rPr>
              <a:t>Bachelor of Information Technology  |  University of Kigali  |  May 2026</a:t>
            </a:r>
            <a:endParaRPr lang="en-US" sz="1100"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0" y="4846320"/>
            <a:ext cx="9144000" cy="297180"/>
          </a:xfrm>
          <a:prstGeom prst="rect">
            <a:avLst/>
          </a:prstGeom>
          <a:solidFill>
            <a:srgbClr val="071426"/>
          </a:solidFill>
          <a:ln w="12700">
            <a:solidFill>
              <a:srgbClr val="071426"/>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365760" y="4892040"/>
            <a:ext cx="8412480" cy="201168"/>
          </a:xfrm>
          <a:prstGeom prst="rect">
            <a:avLst/>
          </a:prstGeom>
          <a:noFill/>
          <a:ln/>
        </p:spPr>
        <p:txBody>
          <a:bodyPr wrap="square" rtlCol="0" anchor="ctr"/>
          <a:lstStyle/>
          <a:p>
            <a:pPr marL="0" indent="0" algn="ctr">
              <a:buNone/>
            </a:pPr>
            <a:r>
              <a:rPr lang="en-US" sz="950" i="1" dirty="0">
                <a:solidFill>
                  <a:srgbClr val="00B4D8"/>
                </a:solidFill>
                <a:latin typeface="Tahoma" panose="020B0604030504040204" pitchFamily="34" charset="0"/>
                <a:ea typeface="Tahoma" panose="020B0604030504040204" pitchFamily="34" charset="0"/>
                <a:cs typeface="Tahoma" panose="020B0604030504040204" pitchFamily="34" charset="0"/>
              </a:rPr>
              <a:t>"Accessible. Secure. Transparent."</a:t>
            </a:r>
            <a:endParaRPr lang="en-US" sz="95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dirty="0">
                <a:solidFill>
                  <a:srgbClr val="8DADC4"/>
                </a:solidFill>
                <a:latin typeface="Tahoma" panose="020B0604030504040204" pitchFamily="34" charset="0"/>
                <a:ea typeface="Tahoma" panose="020B0604030504040204" pitchFamily="34" charset="0"/>
                <a:cs typeface="Tahoma" panose="020B0604030504040204" pitchFamily="34" charset="0"/>
              </a:rPr>
              <a:t>2 / 15</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2400" b="1" kern="0" spc="200" dirty="0">
                <a:solidFill>
                  <a:srgbClr val="00B4D8"/>
                </a:solidFill>
                <a:latin typeface="Tahoma" panose="020B0604030504040204" pitchFamily="34" charset="0"/>
                <a:ea typeface="Tahoma" panose="020B0604030504040204" pitchFamily="34" charset="0"/>
                <a:cs typeface="Tahoma" panose="020B0604030504040204" pitchFamily="34" charset="0"/>
              </a:rPr>
              <a:t>PRESENTATION OUTLINE</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457200" y="749808"/>
            <a:ext cx="2286000" cy="36576"/>
          </a:xfrm>
          <a:prstGeom prst="rect">
            <a:avLst/>
          </a:prstGeom>
          <a:solidFill>
            <a:srgbClr val="F4A261"/>
          </a:solidFill>
          <a:ln w="12700">
            <a:solidFill>
              <a:srgbClr val="F4A261"/>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457200" y="1024128"/>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457200" y="1024128"/>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01</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914400" y="1005840"/>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Background &amp; Problem Statement</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457200" y="1591056"/>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457200" y="1591056"/>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02</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914400" y="1572768"/>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Research Objectives &amp; Questions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457200" y="2157984"/>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457200" y="2157984"/>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03</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914400" y="2139696"/>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Literature Review &amp; Research Gap</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4" name="Shape 12"/>
          <p:cNvSpPr/>
          <p:nvPr/>
        </p:nvSpPr>
        <p:spPr>
          <a:xfrm>
            <a:off x="457200" y="2724912"/>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457200" y="2724912"/>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04</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914400" y="2706624"/>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System Actors &amp; Use Cases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5"/>
          <p:cNvSpPr/>
          <p:nvPr/>
        </p:nvSpPr>
        <p:spPr>
          <a:xfrm>
            <a:off x="457200" y="3291840"/>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457200" y="3291840"/>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05</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914400" y="3273552"/>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Conceptual Framework</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0" name="Shape 18"/>
          <p:cNvSpPr/>
          <p:nvPr/>
        </p:nvSpPr>
        <p:spPr>
          <a:xfrm>
            <a:off x="457200" y="3858768"/>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1" name="Text 19"/>
          <p:cNvSpPr/>
          <p:nvPr/>
        </p:nvSpPr>
        <p:spPr>
          <a:xfrm>
            <a:off x="457200" y="3858768"/>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06</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2" name="Text 20"/>
          <p:cNvSpPr/>
          <p:nvPr/>
        </p:nvSpPr>
        <p:spPr>
          <a:xfrm>
            <a:off x="914400" y="3840480"/>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Research Methodology</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3" name="Shape 21"/>
          <p:cNvSpPr/>
          <p:nvPr/>
        </p:nvSpPr>
        <p:spPr>
          <a:xfrm>
            <a:off x="457200" y="4425696"/>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4" name="Text 22"/>
          <p:cNvSpPr/>
          <p:nvPr/>
        </p:nvSpPr>
        <p:spPr>
          <a:xfrm>
            <a:off x="457200" y="4425696"/>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07</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5" name="Text 23"/>
          <p:cNvSpPr/>
          <p:nvPr/>
        </p:nvSpPr>
        <p:spPr>
          <a:xfrm>
            <a:off x="914400" y="4407408"/>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System Architecture</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6" name="Shape 24"/>
          <p:cNvSpPr/>
          <p:nvPr/>
        </p:nvSpPr>
        <p:spPr>
          <a:xfrm>
            <a:off x="4846320" y="1024128"/>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7" name="Text 25"/>
          <p:cNvSpPr/>
          <p:nvPr/>
        </p:nvSpPr>
        <p:spPr>
          <a:xfrm>
            <a:off x="4846320" y="1024128"/>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08</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8" name="Text 26"/>
          <p:cNvSpPr/>
          <p:nvPr/>
        </p:nvSpPr>
        <p:spPr>
          <a:xfrm>
            <a:off x="5303520" y="1005840"/>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USSD Session Flow &amp; PIN Security</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29" name="Shape 27"/>
          <p:cNvSpPr/>
          <p:nvPr/>
        </p:nvSpPr>
        <p:spPr>
          <a:xfrm>
            <a:off x="4846320" y="1591056"/>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0" name="Text 28"/>
          <p:cNvSpPr/>
          <p:nvPr/>
        </p:nvSpPr>
        <p:spPr>
          <a:xfrm>
            <a:off x="4846320" y="1591056"/>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09</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1" name="Text 29"/>
          <p:cNvSpPr/>
          <p:nvPr/>
        </p:nvSpPr>
        <p:spPr>
          <a:xfrm>
            <a:off x="5303520" y="1572768"/>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Database Schema</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2" name="Shape 30"/>
          <p:cNvSpPr/>
          <p:nvPr/>
        </p:nvSpPr>
        <p:spPr>
          <a:xfrm>
            <a:off x="4846320" y="2157984"/>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3" name="Text 31"/>
          <p:cNvSpPr/>
          <p:nvPr/>
        </p:nvSpPr>
        <p:spPr>
          <a:xfrm>
            <a:off x="4846320" y="2157984"/>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10</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4" name="Text 32"/>
          <p:cNvSpPr/>
          <p:nvPr/>
        </p:nvSpPr>
        <p:spPr>
          <a:xfrm>
            <a:off x="5303520" y="2139696"/>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Admin &amp; HOD Portals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5" name="Shape 33"/>
          <p:cNvSpPr/>
          <p:nvPr/>
        </p:nvSpPr>
        <p:spPr>
          <a:xfrm>
            <a:off x="4846320" y="2724912"/>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6" name="Text 34"/>
          <p:cNvSpPr/>
          <p:nvPr/>
        </p:nvSpPr>
        <p:spPr>
          <a:xfrm>
            <a:off x="4846320" y="2724912"/>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11</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7" name="Text 35"/>
          <p:cNvSpPr/>
          <p:nvPr/>
        </p:nvSpPr>
        <p:spPr>
          <a:xfrm>
            <a:off x="5303520" y="2706624"/>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Budget &amp; Timeline</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38" name="Shape 36"/>
          <p:cNvSpPr/>
          <p:nvPr/>
        </p:nvSpPr>
        <p:spPr>
          <a:xfrm>
            <a:off x="4846320" y="3291840"/>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9" name="Text 37"/>
          <p:cNvSpPr/>
          <p:nvPr/>
        </p:nvSpPr>
        <p:spPr>
          <a:xfrm>
            <a:off x="4846320" y="3291840"/>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12</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0" name="Text 38"/>
          <p:cNvSpPr/>
          <p:nvPr/>
        </p:nvSpPr>
        <p:spPr>
          <a:xfrm>
            <a:off x="5303520" y="3273552"/>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Expected Outcomes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1" name="Shape 39"/>
          <p:cNvSpPr/>
          <p:nvPr/>
        </p:nvSpPr>
        <p:spPr>
          <a:xfrm>
            <a:off x="4846320" y="3858768"/>
            <a:ext cx="384048" cy="384048"/>
          </a:xfrm>
          <a:prstGeom prst="ellipse">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2" name="Text 40"/>
          <p:cNvSpPr/>
          <p:nvPr/>
        </p:nvSpPr>
        <p:spPr>
          <a:xfrm>
            <a:off x="4846320" y="3858768"/>
            <a:ext cx="384048" cy="384048"/>
          </a:xfrm>
          <a:prstGeom prst="rect">
            <a:avLst/>
          </a:prstGeom>
          <a:noFill/>
          <a:ln/>
        </p:spPr>
        <p:txBody>
          <a:bodyPr wrap="square" lIns="0" tIns="0" rIns="0" bIns="0" rtlCol="0" anchor="ctr"/>
          <a:lstStyle/>
          <a:p>
            <a:pPr marL="0" indent="0" algn="ctr">
              <a:buNone/>
            </a:pPr>
            <a:r>
              <a:rPr lang="en-US" b="1" dirty="0">
                <a:solidFill>
                  <a:srgbClr val="0D1B2A"/>
                </a:solidFill>
                <a:latin typeface="Tahoma" panose="020B0604030504040204" pitchFamily="34" charset="0"/>
                <a:ea typeface="Tahoma" panose="020B0604030504040204" pitchFamily="34" charset="0"/>
                <a:cs typeface="Tahoma" panose="020B0604030504040204" pitchFamily="34" charset="0"/>
              </a:rPr>
              <a:t>13</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3" name="Text 41"/>
          <p:cNvSpPr/>
          <p:nvPr/>
        </p:nvSpPr>
        <p:spPr>
          <a:xfrm>
            <a:off x="5303520" y="3840480"/>
            <a:ext cx="3931920" cy="402336"/>
          </a:xfrm>
          <a:prstGeom prst="rect">
            <a:avLst/>
          </a:prstGeom>
          <a:noFill/>
          <a:ln/>
        </p:spPr>
        <p:txBody>
          <a:bodyPr wrap="square" rtlCol="0" anchor="ctr"/>
          <a:lstStyle/>
          <a:p>
            <a:pPr marL="0" indent="0">
              <a:buNone/>
            </a:pPr>
            <a:r>
              <a:rPr lang="en-US" dirty="0">
                <a:solidFill>
                  <a:srgbClr val="F0F4F8"/>
                </a:solidFill>
                <a:latin typeface="Tahoma" panose="020B0604030504040204" pitchFamily="34" charset="0"/>
                <a:ea typeface="Tahoma" panose="020B0604030504040204" pitchFamily="34" charset="0"/>
                <a:cs typeface="Tahoma" panose="020B0604030504040204" pitchFamily="34" charset="0"/>
              </a:rPr>
              <a:t>Conclusion</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1600" dirty="0">
                <a:solidFill>
                  <a:srgbClr val="8DADC4"/>
                </a:solidFill>
                <a:latin typeface="Tahoma" panose="020B0604030504040204" pitchFamily="34" charset="0"/>
                <a:ea typeface="Tahoma" panose="020B0604030504040204" pitchFamily="34" charset="0"/>
                <a:cs typeface="Tahoma" panose="020B0604030504040204" pitchFamily="34" charset="0"/>
              </a:rPr>
              <a:t>3 / 15</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1600" b="1" dirty="0">
                <a:solidFill>
                  <a:srgbClr val="FFFFFF"/>
                </a:solidFill>
                <a:latin typeface="Tahoma" panose="020B0604030504040204" pitchFamily="34" charset="0"/>
                <a:ea typeface="Tahoma" panose="020B0604030504040204" pitchFamily="34" charset="0"/>
                <a:cs typeface="Tahoma" panose="020B0604030504040204" pitchFamily="34" charset="0"/>
              </a:rPr>
              <a:t>Background &amp; Problem Statement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457200" y="685800"/>
            <a:ext cx="1645920" cy="36576"/>
          </a:xfrm>
          <a:prstGeom prst="rect">
            <a:avLst/>
          </a:prstGeom>
          <a:solidFill>
            <a:srgbClr val="00B4D8"/>
          </a:solidFill>
          <a:ln w="12700">
            <a:solidFill>
              <a:srgbClr val="00B4D8"/>
            </a:solidFill>
            <a:prstDash val="solid"/>
          </a:ln>
        </p:spPr>
        <p:txBody>
          <a:bodyPr/>
          <a:lstStyle/>
          <a:p>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365760" y="804672"/>
            <a:ext cx="4023360" cy="3995928"/>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548640" y="914400"/>
            <a:ext cx="3657600" cy="347472"/>
          </a:xfrm>
          <a:prstGeom prst="rect">
            <a:avLst/>
          </a:prstGeom>
          <a:noFill/>
          <a:ln/>
        </p:spPr>
        <p:txBody>
          <a:bodyPr wrap="square" rtlCol="0" anchor="ctr"/>
          <a:lstStyle/>
          <a:p>
            <a:pPr marL="0" indent="0">
              <a:buNone/>
            </a:pPr>
            <a:r>
              <a:rPr lang="en-US" sz="1600" b="1" dirty="0">
                <a:solidFill>
                  <a:srgbClr val="00B4D8"/>
                </a:solidFill>
                <a:latin typeface="Tahoma" panose="020B0604030504040204" pitchFamily="34" charset="0"/>
                <a:ea typeface="Tahoma" panose="020B0604030504040204" pitchFamily="34" charset="0"/>
                <a:cs typeface="Tahoma" panose="020B0604030504040204" pitchFamily="34" charset="0"/>
              </a:rPr>
              <a:t>Context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548640" y="1325880"/>
            <a:ext cx="3657600" cy="530352"/>
          </a:xfrm>
          <a:prstGeom prst="rect">
            <a:avLst/>
          </a:prstGeom>
          <a:noFill/>
          <a:ln/>
        </p:spPr>
        <p:txBody>
          <a:bodyPr wrap="square" rtlCol="0" anchor="ctr"/>
          <a:lstStyle/>
          <a:p>
            <a:pPr marL="0" indent="0">
              <a:buNone/>
            </a:pPr>
            <a:r>
              <a:rPr lang="en-US" sz="160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ULK uses manual, paper-based marks appeal processes with no digital channel.</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8" name="Text 6"/>
          <p:cNvSpPr/>
          <p:nvPr/>
        </p:nvSpPr>
        <p:spPr>
          <a:xfrm>
            <a:off x="548640" y="2027682"/>
            <a:ext cx="3657600" cy="530352"/>
          </a:xfrm>
          <a:prstGeom prst="rect">
            <a:avLst/>
          </a:prstGeom>
          <a:noFill/>
          <a:ln/>
        </p:spPr>
        <p:txBody>
          <a:bodyPr wrap="square" rtlCol="0" anchor="ctr"/>
          <a:lstStyle/>
          <a:p>
            <a:pPr marL="0" indent="0">
              <a:buNone/>
            </a:pPr>
            <a:r>
              <a:rPr lang="en-US" sz="160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Rwanda mobile penetration ~80% GSM, but limited smartphone/internet access.</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548640" y="2756916"/>
            <a:ext cx="3657600" cy="530352"/>
          </a:xfrm>
          <a:prstGeom prst="rect">
            <a:avLst/>
          </a:prstGeom>
          <a:noFill/>
          <a:ln/>
        </p:spPr>
        <p:txBody>
          <a:bodyPr wrap="square" rtlCol="0" anchor="ctr"/>
          <a:lstStyle/>
          <a:p>
            <a:pPr marL="0" indent="0">
              <a:buNone/>
            </a:pPr>
            <a:r>
              <a:rPr lang="en-US" sz="160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Existing portals authenticate via student ID only a known security flaw.</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548640" y="3666744"/>
            <a:ext cx="3657600" cy="530352"/>
          </a:xfrm>
          <a:prstGeom prst="rect">
            <a:avLst/>
          </a:prstGeom>
          <a:noFill/>
          <a:ln/>
        </p:spPr>
        <p:txBody>
          <a:bodyPr wrap="square" rtlCol="0" anchor="ctr"/>
          <a:lstStyle/>
          <a:p>
            <a:pPr marL="0" indent="0">
              <a:buNone/>
            </a:pPr>
            <a:r>
              <a:rPr lang="en-US" sz="160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Students face 28+ day delays in manual appeal resolution (Oyelaran &amp; Tella, 2018).</a:t>
            </a:r>
          </a:p>
          <a:p>
            <a:pPr marL="0" indent="0">
              <a:buNone/>
            </a:pP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1" name="Text 9"/>
          <p:cNvSpPr/>
          <p:nvPr/>
        </p:nvSpPr>
        <p:spPr>
          <a:xfrm>
            <a:off x="548640" y="4128516"/>
            <a:ext cx="3657600" cy="717804"/>
          </a:xfrm>
          <a:prstGeom prst="rect">
            <a:avLst/>
          </a:prstGeom>
          <a:noFill/>
          <a:ln/>
        </p:spPr>
        <p:txBody>
          <a:bodyPr wrap="square" rtlCol="0" anchor="ctr"/>
          <a:lstStyle/>
          <a:p>
            <a:pPr marL="0" indent="0">
              <a:buNone/>
            </a:pPr>
            <a:r>
              <a:rPr lang="en-US" sz="160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78% of students uncertain whether their appeal was received or logged.</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2" name="Shape 10"/>
          <p:cNvSpPr/>
          <p:nvPr/>
        </p:nvSpPr>
        <p:spPr>
          <a:xfrm>
            <a:off x="4503420" y="484632"/>
            <a:ext cx="4183380" cy="4303776"/>
          </a:xfrm>
          <a:prstGeom prst="rect">
            <a:avLst/>
          </a:prstGeom>
          <a:solidFill>
            <a:srgbClr val="132237"/>
          </a:solidFill>
          <a:ln w="12700">
            <a:solidFill>
              <a:srgbClr val="F4A261"/>
            </a:solidFill>
            <a:prstDash val="solid"/>
          </a:ln>
          <a:effectLst>
            <a:outerShdw blurRad="101600" dist="38100" dir="8100000" algn="bl" rotWithShape="0">
              <a:srgbClr val="000000">
                <a:alpha val="25000"/>
              </a:srgbClr>
            </a:outerShdw>
          </a:effectLst>
        </p:spPr>
        <p:txBody>
          <a:bodyPr/>
          <a:lstStyle/>
          <a:p>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4846320" y="914400"/>
            <a:ext cx="3657600" cy="347472"/>
          </a:xfrm>
          <a:prstGeom prst="rect">
            <a:avLst/>
          </a:prstGeom>
          <a:noFill/>
          <a:ln/>
        </p:spPr>
        <p:txBody>
          <a:bodyPr wrap="square" rtlCol="0" anchor="ctr"/>
          <a:lstStyle/>
          <a:p>
            <a:pPr marL="0" indent="0">
              <a:buNone/>
            </a:pPr>
            <a:r>
              <a:rPr lang="en-US" sz="1600" b="1" dirty="0">
                <a:solidFill>
                  <a:srgbClr val="F4A261"/>
                </a:solidFill>
                <a:latin typeface="Tahoma" panose="020B0604030504040204" pitchFamily="34" charset="0"/>
                <a:ea typeface="Tahoma" panose="020B0604030504040204" pitchFamily="34" charset="0"/>
                <a:cs typeface="Tahoma" panose="020B0604030504040204" pitchFamily="34" charset="0"/>
              </a:rPr>
              <a:t>The Problem</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4" name="Text 12"/>
          <p:cNvSpPr/>
          <p:nvPr/>
        </p:nvSpPr>
        <p:spPr>
          <a:xfrm>
            <a:off x="4846320" y="1412748"/>
            <a:ext cx="3657600" cy="530352"/>
          </a:xfrm>
          <a:prstGeom prst="rect">
            <a:avLst/>
          </a:prstGeom>
          <a:noFill/>
          <a:ln/>
        </p:spPr>
        <p:txBody>
          <a:bodyPr wrap="square" rtlCol="0" anchor="ctr"/>
          <a:lstStyle/>
          <a:p>
            <a:pPr marL="0" indent="0">
              <a:buNone/>
            </a:pP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No secure authentication | anyone with a student ID can impersonate a student.</a:t>
            </a:r>
          </a:p>
          <a:p>
            <a:pPr marL="0" indent="0">
              <a:buNone/>
            </a:pP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4846320" y="1972056"/>
            <a:ext cx="3657600" cy="530352"/>
          </a:xfrm>
          <a:prstGeom prst="rect">
            <a:avLst/>
          </a:prstGeom>
          <a:noFill/>
          <a:ln/>
        </p:spPr>
        <p:txBody>
          <a:bodyPr wrap="square" rtlCol="0" anchor="ctr"/>
          <a:lstStyle/>
          <a:p>
            <a:pPr marL="0" indent="0">
              <a:buNone/>
            </a:pP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No mobile access channel requires internet or physical campus visit.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4846320" y="2656332"/>
            <a:ext cx="3657600" cy="530352"/>
          </a:xfrm>
          <a:prstGeom prst="rect">
            <a:avLst/>
          </a:prstGeom>
          <a:noFill/>
          <a:ln/>
        </p:spPr>
        <p:txBody>
          <a:bodyPr wrap="square" rtlCol="0" anchor="ctr"/>
          <a:lstStyle/>
          <a:p>
            <a:pPr marL="0" indent="0">
              <a:buNone/>
            </a:pP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No real-time tracking for submitted appeals.</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7" name="Text 15"/>
          <p:cNvSpPr/>
          <p:nvPr/>
        </p:nvSpPr>
        <p:spPr>
          <a:xfrm>
            <a:off x="4846320" y="3401568"/>
            <a:ext cx="3657600" cy="530352"/>
          </a:xfrm>
          <a:prstGeom prst="rect">
            <a:avLst/>
          </a:prstGeom>
          <a:noFill/>
          <a:ln/>
        </p:spPr>
        <p:txBody>
          <a:bodyPr wrap="square" rtlCol="0" anchor="ctr"/>
          <a:lstStyle/>
          <a:p>
            <a:pPr marL="0" indent="0">
              <a:buNone/>
            </a:pP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Manual admin workflow is error-prone and hard to audit.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4846320" y="4128516"/>
            <a:ext cx="3657600" cy="530352"/>
          </a:xfrm>
          <a:prstGeom prst="rect">
            <a:avLst/>
          </a:prstGeom>
          <a:noFill/>
          <a:ln/>
        </p:spPr>
        <p:txBody>
          <a:bodyPr wrap="square" rtlCol="0" anchor="ctr"/>
          <a:lstStyle/>
          <a:p>
            <a:pPr marL="0" indent="0">
              <a:buNone/>
            </a:pPr>
            <a:r>
              <a:rPr lang="en-US" sz="1600" dirty="0">
                <a:solidFill>
                  <a:srgbClr val="F0F4F8"/>
                </a:solidFill>
                <a:latin typeface="Tahoma" panose="020B0604030504040204" pitchFamily="34" charset="0"/>
                <a:ea typeface="Tahoma" panose="020B0604030504040204" pitchFamily="34" charset="0"/>
                <a:cs typeface="Tahoma" panose="020B0604030504040204" pitchFamily="34" charset="0"/>
              </a:rPr>
              <a:t>No USSD-based PIN-secured appeal system documented in Rwanda.</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900" dirty="0">
                <a:solidFill>
                  <a:srgbClr val="8DADC4"/>
                </a:solidFill>
              </a:rPr>
              <a:t>4 / 15</a:t>
            </a:r>
            <a:endParaRPr lang="en-US" sz="900" dirty="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400" b="1" dirty="0">
                <a:solidFill>
                  <a:srgbClr val="FFFFFF"/>
                </a:solidFill>
              </a:rPr>
              <a:t>Research Objectives &amp; Questions</a:t>
            </a:r>
            <a:endParaRPr lang="en-US" sz="2400" dirty="0"/>
          </a:p>
        </p:txBody>
      </p:sp>
      <p:sp>
        <p:nvSpPr>
          <p:cNvPr id="4" name="Shape 2"/>
          <p:cNvSpPr/>
          <p:nvPr/>
        </p:nvSpPr>
        <p:spPr>
          <a:xfrm>
            <a:off x="457200" y="685800"/>
            <a:ext cx="1828800" cy="36576"/>
          </a:xfrm>
          <a:prstGeom prst="rect">
            <a:avLst/>
          </a:prstGeom>
          <a:solidFill>
            <a:srgbClr val="00B4D8"/>
          </a:solidFill>
          <a:ln w="12700">
            <a:solidFill>
              <a:srgbClr val="00B4D8"/>
            </a:solidFill>
            <a:prstDash val="solid"/>
          </a:ln>
        </p:spPr>
        <p:txBody>
          <a:bodyPr/>
          <a:lstStyle/>
          <a:p>
            <a:endParaRPr lang="en-US"/>
          </a:p>
        </p:txBody>
      </p:sp>
      <p:sp>
        <p:nvSpPr>
          <p:cNvPr id="5" name="Shape 3"/>
          <p:cNvSpPr/>
          <p:nvPr/>
        </p:nvSpPr>
        <p:spPr>
          <a:xfrm>
            <a:off x="365760" y="822960"/>
            <a:ext cx="8412480" cy="658368"/>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594360" y="868680"/>
            <a:ext cx="7955280" cy="530352"/>
          </a:xfrm>
          <a:prstGeom prst="rect">
            <a:avLst/>
          </a:prstGeom>
          <a:noFill/>
          <a:ln/>
        </p:spPr>
        <p:txBody>
          <a:bodyPr wrap="square" rtlCol="0" anchor="ctr"/>
          <a:lstStyle/>
          <a:p>
            <a:pPr marL="0" indent="0">
              <a:buNone/>
            </a:pPr>
            <a:r>
              <a:rPr lang="en-US" sz="1200" b="1" dirty="0">
                <a:solidFill>
                  <a:srgbClr val="F4A261"/>
                </a:solidFill>
              </a:rPr>
              <a:t>General Objective:  </a:t>
            </a:r>
            <a:r>
              <a:rPr lang="en-US" sz="1200" dirty="0">
                <a:solidFill>
                  <a:srgbClr val="FFFFFF"/>
                </a:solidFill>
              </a:rPr>
              <a:t>Design and develop a USSD-based marks appeal system with integrated PIN security for university students at the University of Kigali, Rwanda.</a:t>
            </a:r>
            <a:endParaRPr lang="en-US" sz="1200" dirty="0"/>
          </a:p>
        </p:txBody>
      </p:sp>
      <p:sp>
        <p:nvSpPr>
          <p:cNvPr id="7" name="Text 5"/>
          <p:cNvSpPr/>
          <p:nvPr/>
        </p:nvSpPr>
        <p:spPr>
          <a:xfrm>
            <a:off x="457200" y="1600200"/>
            <a:ext cx="4023360" cy="274320"/>
          </a:xfrm>
          <a:prstGeom prst="rect">
            <a:avLst/>
          </a:prstGeom>
          <a:noFill/>
          <a:ln/>
        </p:spPr>
        <p:txBody>
          <a:bodyPr wrap="square" rtlCol="0" anchor="ctr"/>
          <a:lstStyle/>
          <a:p>
            <a:pPr marL="0" indent="0">
              <a:buNone/>
            </a:pPr>
            <a:r>
              <a:rPr lang="en-US" sz="1100" b="1" kern="0" spc="100" dirty="0">
                <a:solidFill>
                  <a:srgbClr val="00B4D8"/>
                </a:solidFill>
              </a:rPr>
              <a:t>SPECIFIC OBJECTIVES</a:t>
            </a:r>
            <a:endParaRPr lang="en-US" sz="1100" dirty="0"/>
          </a:p>
        </p:txBody>
      </p:sp>
      <p:sp>
        <p:nvSpPr>
          <p:cNvPr id="8" name="Shape 6"/>
          <p:cNvSpPr/>
          <p:nvPr/>
        </p:nvSpPr>
        <p:spPr>
          <a:xfrm>
            <a:off x="365760" y="1920240"/>
            <a:ext cx="4023360" cy="603504"/>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548640" y="1956816"/>
            <a:ext cx="3749040" cy="530352"/>
          </a:xfrm>
          <a:prstGeom prst="rect">
            <a:avLst/>
          </a:prstGeom>
          <a:noFill/>
          <a:ln/>
        </p:spPr>
        <p:txBody>
          <a:bodyPr wrap="square" rtlCol="0" anchor="ctr"/>
          <a:lstStyle/>
          <a:p>
            <a:pPr marL="0" indent="0">
              <a:buNone/>
            </a:pPr>
            <a:r>
              <a:rPr lang="en-US" sz="1100" b="1" dirty="0">
                <a:solidFill>
                  <a:srgbClr val="00B4D8"/>
                </a:solidFill>
              </a:rPr>
              <a:t>SO1  </a:t>
            </a:r>
            <a:r>
              <a:rPr lang="en-US" sz="1100" dirty="0">
                <a:solidFill>
                  <a:srgbClr val="F0F4F8"/>
                </a:solidFill>
              </a:rPr>
              <a:t>Analyse the current marks appeal process at ULK and identify gaps.</a:t>
            </a:r>
            <a:endParaRPr lang="en-US" sz="1100" dirty="0"/>
          </a:p>
        </p:txBody>
      </p:sp>
      <p:sp>
        <p:nvSpPr>
          <p:cNvPr id="10" name="Shape 8"/>
          <p:cNvSpPr/>
          <p:nvPr/>
        </p:nvSpPr>
        <p:spPr>
          <a:xfrm>
            <a:off x="365760" y="2615184"/>
            <a:ext cx="4023360" cy="603504"/>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1" name="Text 9"/>
          <p:cNvSpPr/>
          <p:nvPr/>
        </p:nvSpPr>
        <p:spPr>
          <a:xfrm>
            <a:off x="548640" y="2651760"/>
            <a:ext cx="3749040" cy="530352"/>
          </a:xfrm>
          <a:prstGeom prst="rect">
            <a:avLst/>
          </a:prstGeom>
          <a:noFill/>
          <a:ln/>
        </p:spPr>
        <p:txBody>
          <a:bodyPr wrap="square" rtlCol="0" anchor="ctr"/>
          <a:lstStyle/>
          <a:p>
            <a:pPr marL="0" indent="0">
              <a:buNone/>
            </a:pPr>
            <a:r>
              <a:rPr lang="en-US" sz="1100" b="1" dirty="0">
                <a:solidFill>
                  <a:srgbClr val="00B4D8"/>
                </a:solidFill>
              </a:rPr>
              <a:t>SO2  </a:t>
            </a:r>
            <a:r>
              <a:rPr lang="en-US" sz="1100" dirty="0">
                <a:solidFill>
                  <a:srgbClr val="F0F4F8"/>
                </a:solidFill>
              </a:rPr>
              <a:t>Design PIN-secured authentication (SHA-256, 3-strike, OTP reset).</a:t>
            </a:r>
            <a:endParaRPr lang="en-US" sz="1100" dirty="0"/>
          </a:p>
        </p:txBody>
      </p:sp>
      <p:sp>
        <p:nvSpPr>
          <p:cNvPr id="12" name="Shape 10"/>
          <p:cNvSpPr/>
          <p:nvPr/>
        </p:nvSpPr>
        <p:spPr>
          <a:xfrm>
            <a:off x="365760" y="3310128"/>
            <a:ext cx="4023360" cy="603504"/>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3" name="Text 11"/>
          <p:cNvSpPr/>
          <p:nvPr/>
        </p:nvSpPr>
        <p:spPr>
          <a:xfrm>
            <a:off x="548640" y="3346704"/>
            <a:ext cx="3749040" cy="530352"/>
          </a:xfrm>
          <a:prstGeom prst="rect">
            <a:avLst/>
          </a:prstGeom>
          <a:noFill/>
          <a:ln/>
        </p:spPr>
        <p:txBody>
          <a:bodyPr wrap="square" rtlCol="0" anchor="ctr"/>
          <a:lstStyle/>
          <a:p>
            <a:pPr marL="0" indent="0">
              <a:buNone/>
            </a:pPr>
            <a:r>
              <a:rPr lang="en-US" sz="1100" b="1" dirty="0">
                <a:solidFill>
                  <a:srgbClr val="00B4D8"/>
                </a:solidFill>
              </a:rPr>
              <a:t>SO3  </a:t>
            </a:r>
            <a:r>
              <a:rPr lang="en-US" sz="1100" dirty="0">
                <a:solidFill>
                  <a:srgbClr val="F0F4F8"/>
                </a:solidFill>
              </a:rPr>
              <a:t>Develop Flask admin+HOD portal for appeal and results management.</a:t>
            </a:r>
            <a:endParaRPr lang="en-US" sz="1100" dirty="0"/>
          </a:p>
        </p:txBody>
      </p:sp>
      <p:sp>
        <p:nvSpPr>
          <p:cNvPr id="14" name="Shape 12"/>
          <p:cNvSpPr/>
          <p:nvPr/>
        </p:nvSpPr>
        <p:spPr>
          <a:xfrm>
            <a:off x="365760" y="4005072"/>
            <a:ext cx="4023360" cy="603504"/>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5" name="Text 13"/>
          <p:cNvSpPr/>
          <p:nvPr/>
        </p:nvSpPr>
        <p:spPr>
          <a:xfrm>
            <a:off x="548640" y="4041648"/>
            <a:ext cx="3749040" cy="530352"/>
          </a:xfrm>
          <a:prstGeom prst="rect">
            <a:avLst/>
          </a:prstGeom>
          <a:noFill/>
          <a:ln/>
        </p:spPr>
        <p:txBody>
          <a:bodyPr wrap="square" rtlCol="0" anchor="ctr"/>
          <a:lstStyle/>
          <a:p>
            <a:pPr marL="0" indent="0">
              <a:buNone/>
            </a:pPr>
            <a:r>
              <a:rPr lang="en-US" sz="1100" b="1" dirty="0">
                <a:solidFill>
                  <a:srgbClr val="00B4D8"/>
                </a:solidFill>
              </a:rPr>
              <a:t>SO4  </a:t>
            </a:r>
            <a:r>
              <a:rPr lang="en-US" sz="1100" dirty="0">
                <a:solidFill>
                  <a:srgbClr val="F0F4F8"/>
                </a:solidFill>
              </a:rPr>
              <a:t>Test and evaluate system for security, usability &amp; accessibility.</a:t>
            </a:r>
            <a:endParaRPr lang="en-US" sz="1100" dirty="0"/>
          </a:p>
        </p:txBody>
      </p:sp>
      <p:sp>
        <p:nvSpPr>
          <p:cNvPr id="16" name="Text 14"/>
          <p:cNvSpPr/>
          <p:nvPr/>
        </p:nvSpPr>
        <p:spPr>
          <a:xfrm>
            <a:off x="4663440" y="1600200"/>
            <a:ext cx="4023360" cy="274320"/>
          </a:xfrm>
          <a:prstGeom prst="rect">
            <a:avLst/>
          </a:prstGeom>
          <a:noFill/>
          <a:ln/>
        </p:spPr>
        <p:txBody>
          <a:bodyPr wrap="square" rtlCol="0" anchor="ctr"/>
          <a:lstStyle/>
          <a:p>
            <a:pPr marL="0" indent="0">
              <a:buNone/>
            </a:pPr>
            <a:r>
              <a:rPr lang="en-US" sz="1100" b="1" kern="0" spc="100" dirty="0">
                <a:solidFill>
                  <a:srgbClr val="F4A261"/>
                </a:solidFill>
              </a:rPr>
              <a:t>RESEARCH QUESTIONS</a:t>
            </a:r>
            <a:endParaRPr lang="en-US" sz="1100" dirty="0"/>
          </a:p>
        </p:txBody>
      </p:sp>
      <p:sp>
        <p:nvSpPr>
          <p:cNvPr id="17" name="Shape 15"/>
          <p:cNvSpPr/>
          <p:nvPr/>
        </p:nvSpPr>
        <p:spPr>
          <a:xfrm>
            <a:off x="4663440" y="1920240"/>
            <a:ext cx="4023360" cy="603504"/>
          </a:xfrm>
          <a:prstGeom prst="rect">
            <a:avLst/>
          </a:prstGeom>
          <a:solidFill>
            <a:srgbClr val="132237"/>
          </a:solidFill>
          <a:ln w="12700">
            <a:solidFill>
              <a:srgbClr val="F4A261"/>
            </a:solidFill>
            <a:prstDash val="solid"/>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4846320" y="1956816"/>
            <a:ext cx="3749040" cy="530352"/>
          </a:xfrm>
          <a:prstGeom prst="rect">
            <a:avLst/>
          </a:prstGeom>
          <a:noFill/>
          <a:ln/>
        </p:spPr>
        <p:txBody>
          <a:bodyPr wrap="square" rtlCol="0" anchor="ctr"/>
          <a:lstStyle/>
          <a:p>
            <a:pPr marL="0" indent="0">
              <a:buNone/>
            </a:pPr>
            <a:r>
              <a:rPr lang="en-US" sz="1100" b="1" dirty="0">
                <a:solidFill>
                  <a:srgbClr val="F4A261"/>
                </a:solidFill>
              </a:rPr>
              <a:t>RQ1  </a:t>
            </a:r>
            <a:r>
              <a:rPr lang="en-US" sz="1100" dirty="0">
                <a:solidFill>
                  <a:srgbClr val="F0F4F8"/>
                </a:solidFill>
              </a:rPr>
              <a:t>What challenges limit the current manual appeals process at ULK?</a:t>
            </a:r>
            <a:endParaRPr lang="en-US" sz="1100" dirty="0"/>
          </a:p>
        </p:txBody>
      </p:sp>
      <p:sp>
        <p:nvSpPr>
          <p:cNvPr id="19" name="Shape 17"/>
          <p:cNvSpPr/>
          <p:nvPr/>
        </p:nvSpPr>
        <p:spPr>
          <a:xfrm>
            <a:off x="4663440" y="2615184"/>
            <a:ext cx="4023360" cy="603504"/>
          </a:xfrm>
          <a:prstGeom prst="rect">
            <a:avLst/>
          </a:prstGeom>
          <a:solidFill>
            <a:srgbClr val="132237"/>
          </a:solidFill>
          <a:ln w="12700">
            <a:solidFill>
              <a:srgbClr val="F4A261"/>
            </a:solidFill>
            <a:prstDash val="solid"/>
          </a:ln>
          <a:effectLst>
            <a:outerShdw blurRad="101600" dist="38100" dir="8100000" algn="bl" rotWithShape="0">
              <a:srgbClr val="000000">
                <a:alpha val="25000"/>
              </a:srgbClr>
            </a:outerShdw>
          </a:effectLst>
        </p:spPr>
        <p:txBody>
          <a:bodyPr/>
          <a:lstStyle/>
          <a:p>
            <a:endParaRPr lang="en-US"/>
          </a:p>
        </p:txBody>
      </p:sp>
      <p:sp>
        <p:nvSpPr>
          <p:cNvPr id="20" name="Text 18"/>
          <p:cNvSpPr/>
          <p:nvPr/>
        </p:nvSpPr>
        <p:spPr>
          <a:xfrm>
            <a:off x="4846320" y="2651760"/>
            <a:ext cx="3749040" cy="530352"/>
          </a:xfrm>
          <a:prstGeom prst="rect">
            <a:avLst/>
          </a:prstGeom>
          <a:noFill/>
          <a:ln/>
        </p:spPr>
        <p:txBody>
          <a:bodyPr wrap="square" rtlCol="0" anchor="ctr"/>
          <a:lstStyle/>
          <a:p>
            <a:pPr marL="0" indent="0">
              <a:buNone/>
            </a:pPr>
            <a:r>
              <a:rPr lang="en-US" sz="1100" b="1" dirty="0">
                <a:solidFill>
                  <a:srgbClr val="F4A261"/>
                </a:solidFill>
              </a:rPr>
              <a:t>RQ2  </a:t>
            </a:r>
            <a:r>
              <a:rPr lang="en-US" sz="1100" dirty="0">
                <a:solidFill>
                  <a:srgbClr val="F0F4F8"/>
                </a:solidFill>
              </a:rPr>
              <a:t>How can PIN-secured auth prevent unauthorized USSD access?</a:t>
            </a:r>
            <a:endParaRPr lang="en-US" sz="1100" dirty="0"/>
          </a:p>
        </p:txBody>
      </p:sp>
      <p:sp>
        <p:nvSpPr>
          <p:cNvPr id="21" name="Shape 19"/>
          <p:cNvSpPr/>
          <p:nvPr/>
        </p:nvSpPr>
        <p:spPr>
          <a:xfrm>
            <a:off x="4663440" y="3310128"/>
            <a:ext cx="4023360" cy="603504"/>
          </a:xfrm>
          <a:prstGeom prst="rect">
            <a:avLst/>
          </a:prstGeom>
          <a:solidFill>
            <a:srgbClr val="132237"/>
          </a:solidFill>
          <a:ln w="12700">
            <a:solidFill>
              <a:srgbClr val="F4A261"/>
            </a:solidFill>
            <a:prstDash val="solid"/>
          </a:ln>
          <a:effectLst>
            <a:outerShdw blurRad="101600" dist="38100" dir="8100000" algn="bl" rotWithShape="0">
              <a:srgbClr val="000000">
                <a:alpha val="25000"/>
              </a:srgbClr>
            </a:outerShdw>
          </a:effectLst>
        </p:spPr>
        <p:txBody>
          <a:bodyPr/>
          <a:lstStyle/>
          <a:p>
            <a:endParaRPr lang="en-US"/>
          </a:p>
        </p:txBody>
      </p:sp>
      <p:sp>
        <p:nvSpPr>
          <p:cNvPr id="22" name="Text 20"/>
          <p:cNvSpPr/>
          <p:nvPr/>
        </p:nvSpPr>
        <p:spPr>
          <a:xfrm>
            <a:off x="4846320" y="3346704"/>
            <a:ext cx="3749040" cy="530352"/>
          </a:xfrm>
          <a:prstGeom prst="rect">
            <a:avLst/>
          </a:prstGeom>
          <a:noFill/>
          <a:ln/>
        </p:spPr>
        <p:txBody>
          <a:bodyPr wrap="square" rtlCol="0" anchor="ctr"/>
          <a:lstStyle/>
          <a:p>
            <a:pPr marL="0" indent="0">
              <a:buNone/>
            </a:pPr>
            <a:r>
              <a:rPr lang="en-US" sz="1100" b="1" dirty="0">
                <a:solidFill>
                  <a:srgbClr val="F4A261"/>
                </a:solidFill>
              </a:rPr>
              <a:t>RQ3  </a:t>
            </a:r>
            <a:r>
              <a:rPr lang="en-US" sz="1100" dirty="0">
                <a:solidFill>
                  <a:srgbClr val="F0F4F8"/>
                </a:solidFill>
              </a:rPr>
              <a:t>How can Admin and HOD portals support efficient management?</a:t>
            </a:r>
            <a:endParaRPr lang="en-US" sz="1100" dirty="0"/>
          </a:p>
        </p:txBody>
      </p:sp>
      <p:sp>
        <p:nvSpPr>
          <p:cNvPr id="23" name="Shape 21"/>
          <p:cNvSpPr/>
          <p:nvPr/>
        </p:nvSpPr>
        <p:spPr>
          <a:xfrm>
            <a:off x="4663440" y="4005072"/>
            <a:ext cx="4023360" cy="603504"/>
          </a:xfrm>
          <a:prstGeom prst="rect">
            <a:avLst/>
          </a:prstGeom>
          <a:solidFill>
            <a:srgbClr val="132237"/>
          </a:solidFill>
          <a:ln w="12700">
            <a:solidFill>
              <a:srgbClr val="F4A261"/>
            </a:solidFill>
            <a:prstDash val="solid"/>
          </a:ln>
          <a:effectLst>
            <a:outerShdw blurRad="101600" dist="38100" dir="8100000" algn="bl" rotWithShape="0">
              <a:srgbClr val="000000">
                <a:alpha val="25000"/>
              </a:srgbClr>
            </a:outerShdw>
          </a:effectLst>
        </p:spPr>
        <p:txBody>
          <a:bodyPr/>
          <a:lstStyle/>
          <a:p>
            <a:endParaRPr lang="en-US"/>
          </a:p>
        </p:txBody>
      </p:sp>
      <p:sp>
        <p:nvSpPr>
          <p:cNvPr id="24" name="Text 22"/>
          <p:cNvSpPr/>
          <p:nvPr/>
        </p:nvSpPr>
        <p:spPr>
          <a:xfrm>
            <a:off x="4846320" y="4041648"/>
            <a:ext cx="3749040" cy="530352"/>
          </a:xfrm>
          <a:prstGeom prst="rect">
            <a:avLst/>
          </a:prstGeom>
          <a:noFill/>
          <a:ln/>
        </p:spPr>
        <p:txBody>
          <a:bodyPr wrap="square" rtlCol="0" anchor="ctr"/>
          <a:lstStyle/>
          <a:p>
            <a:pPr marL="0" indent="0">
              <a:buNone/>
            </a:pPr>
            <a:r>
              <a:rPr lang="en-US" sz="1100" b="1" dirty="0">
                <a:solidFill>
                  <a:srgbClr val="F4A261"/>
                </a:solidFill>
              </a:rPr>
              <a:t>RQ4  </a:t>
            </a:r>
            <a:r>
              <a:rPr lang="en-US" sz="1100" dirty="0">
                <a:solidFill>
                  <a:srgbClr val="F0F4F8"/>
                </a:solidFill>
              </a:rPr>
              <a:t>To what extent does the system meet security and usability requirements?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900" dirty="0">
                <a:solidFill>
                  <a:srgbClr val="8DADC4"/>
                </a:solidFill>
                <a:latin typeface="Tahoma" panose="020B0604030504040204" pitchFamily="34" charset="0"/>
                <a:ea typeface="Tahoma" panose="020B0604030504040204" pitchFamily="34" charset="0"/>
                <a:cs typeface="Tahoma" panose="020B0604030504040204" pitchFamily="34" charset="0"/>
              </a:rPr>
              <a:t>6 / 15</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457200" y="109728"/>
            <a:ext cx="8229600" cy="384048"/>
          </a:xfrm>
          <a:prstGeom prst="rect">
            <a:avLst/>
          </a:prstGeom>
          <a:noFill/>
          <a:ln/>
        </p:spPr>
        <p:txBody>
          <a:bodyPr wrap="square" rtlCol="0" anchor="ctr"/>
          <a:lstStyle/>
          <a:p>
            <a:pPr marL="0" indent="0">
              <a:buNone/>
            </a:pPr>
            <a:r>
              <a:rPr lang="en-US" sz="2400" b="1" dirty="0">
                <a:solidFill>
                  <a:srgbClr val="FFFFFF"/>
                </a:solidFill>
                <a:latin typeface="Tahoma" panose="020B0604030504040204" pitchFamily="34" charset="0"/>
                <a:ea typeface="Tahoma" panose="020B0604030504040204" pitchFamily="34" charset="0"/>
                <a:cs typeface="Tahoma" panose="020B0604030504040204" pitchFamily="34" charset="0"/>
              </a:rPr>
              <a:t>Conceptual Framework</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457200" y="530352"/>
            <a:ext cx="1463040" cy="36576"/>
          </a:xfrm>
          <a:prstGeom prst="rect">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 name="Text 3"/>
          <p:cNvSpPr/>
          <p:nvPr/>
        </p:nvSpPr>
        <p:spPr>
          <a:xfrm>
            <a:off x="-731520" y="4645152"/>
            <a:ext cx="8229600" cy="256032"/>
          </a:xfrm>
          <a:prstGeom prst="rect">
            <a:avLst/>
          </a:prstGeom>
          <a:noFill/>
          <a:ln/>
        </p:spPr>
        <p:txBody>
          <a:bodyPr wrap="square" rtlCol="0" anchor="ctr"/>
          <a:lstStyle/>
          <a:p>
            <a:pPr marL="0" indent="0" algn="ctr">
              <a:buNone/>
            </a:pPr>
            <a:r>
              <a:rPr lang="en-US" sz="950" i="1" dirty="0">
                <a:solidFill>
                  <a:srgbClr val="8DADC4"/>
                </a:solidFill>
                <a:latin typeface="Tahoma" panose="020B0604030504040204" pitchFamily="34" charset="0"/>
                <a:ea typeface="Tahoma" panose="020B0604030504040204" pitchFamily="34" charset="0"/>
                <a:cs typeface="Tahoma" panose="020B0604030504040204" pitchFamily="34" charset="0"/>
              </a:rPr>
              <a:t>Figure 1: Conceptual Framework of the USSD-Based Marks Appeal System with PIN Security</a:t>
            </a:r>
            <a:endParaRPr lang="en-US" sz="950" dirty="0">
              <a:latin typeface="Tahoma" panose="020B0604030504040204" pitchFamily="34" charset="0"/>
              <a:ea typeface="Tahoma" panose="020B0604030504040204" pitchFamily="34" charset="0"/>
              <a:cs typeface="Tahoma" panose="020B0604030504040204" pitchFamily="34" charset="0"/>
            </a:endParaRPr>
          </a:p>
        </p:txBody>
      </p:sp>
      <p:sp>
        <p:nvSpPr>
          <p:cNvPr id="6" name="Shape 4"/>
          <p:cNvSpPr/>
          <p:nvPr/>
        </p:nvSpPr>
        <p:spPr>
          <a:xfrm>
            <a:off x="3383280" y="658368"/>
            <a:ext cx="2377440" cy="1280160"/>
          </a:xfrm>
          <a:prstGeom prst="rect">
            <a:avLst/>
          </a:prstGeom>
          <a:solidFill>
            <a:srgbClr val="132237"/>
          </a:solidFill>
          <a:ln w="25400">
            <a:solidFill>
              <a:srgbClr val="00B4D8"/>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7" name="Shape 5"/>
          <p:cNvSpPr/>
          <p:nvPr/>
        </p:nvSpPr>
        <p:spPr>
          <a:xfrm>
            <a:off x="3383280" y="658368"/>
            <a:ext cx="2377440" cy="310896"/>
          </a:xfrm>
          <a:prstGeom prst="rect">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8" name="Text 6"/>
          <p:cNvSpPr/>
          <p:nvPr/>
        </p:nvSpPr>
        <p:spPr>
          <a:xfrm>
            <a:off x="3383280" y="658368"/>
            <a:ext cx="2377440" cy="310896"/>
          </a:xfrm>
          <a:prstGeom prst="rect">
            <a:avLst/>
          </a:prstGeom>
          <a:noFill/>
          <a:ln/>
        </p:spPr>
        <p:txBody>
          <a:bodyPr wrap="square" lIns="0" tIns="0" rIns="0" bIns="0" rtlCol="0" anchor="ctr"/>
          <a:lstStyle/>
          <a:p>
            <a:pPr marL="0" indent="0" algn="ctr">
              <a:buNone/>
            </a:pPr>
            <a:r>
              <a:rPr lang="en-US" sz="1100" b="1" dirty="0">
                <a:solidFill>
                  <a:srgbClr val="0D1B2A"/>
                </a:solidFill>
                <a:latin typeface="Tahoma" panose="020B0604030504040204" pitchFamily="34" charset="0"/>
                <a:ea typeface="Tahoma" panose="020B0604030504040204" pitchFamily="34" charset="0"/>
                <a:cs typeface="Tahoma" panose="020B0604030504040204" pitchFamily="34" charset="0"/>
              </a:rPr>
              <a:t>SYSTEM</a:t>
            </a:r>
            <a:endParaRPr lang="en-US" sz="1100" dirty="0">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3474720" y="1005840"/>
            <a:ext cx="2194560" cy="868680"/>
          </a:xfrm>
          <a:prstGeom prst="rect">
            <a:avLst/>
          </a:prstGeom>
          <a:noFill/>
          <a:ln/>
        </p:spPr>
        <p:txBody>
          <a:bodyPr wrap="square" rtlCol="0" anchor="ctr"/>
          <a:lstStyle/>
          <a:p>
            <a:pPr marL="0" indent="0" algn="ctr">
              <a:buNone/>
            </a:pPr>
            <a:r>
              <a:rPr lang="en-US" sz="1300" dirty="0">
                <a:solidFill>
                  <a:srgbClr val="FFFFFF"/>
                </a:solidFill>
                <a:latin typeface="Tahoma" panose="020B0604030504040204" pitchFamily="34" charset="0"/>
                <a:ea typeface="Tahoma" panose="020B0604030504040204" pitchFamily="34" charset="0"/>
                <a:cs typeface="Tahoma" panose="020B0604030504040204" pitchFamily="34" charset="0"/>
              </a:rPr>
              <a:t>USSD-Based Marks Appeal</a:t>
            </a:r>
            <a:endParaRPr lang="en-US" sz="1300" dirty="0">
              <a:latin typeface="Tahoma" panose="020B0604030504040204" pitchFamily="34" charset="0"/>
              <a:ea typeface="Tahoma" panose="020B0604030504040204" pitchFamily="34" charset="0"/>
              <a:cs typeface="Tahoma" panose="020B0604030504040204" pitchFamily="34" charset="0"/>
            </a:endParaRPr>
          </a:p>
          <a:p>
            <a:pPr marL="0" indent="0" algn="ctr">
              <a:lnSpc>
                <a:spcPct val="150000"/>
              </a:lnSpc>
              <a:buNone/>
            </a:pPr>
            <a:r>
              <a:rPr lang="en-US" sz="1300" dirty="0">
                <a:solidFill>
                  <a:srgbClr val="FFFFFF"/>
                </a:solidFill>
                <a:latin typeface="Tahoma" panose="020B0604030504040204" pitchFamily="34" charset="0"/>
                <a:ea typeface="Tahoma" panose="020B0604030504040204" pitchFamily="34" charset="0"/>
                <a:cs typeface="Tahoma" panose="020B0604030504040204" pitchFamily="34" charset="0"/>
              </a:rPr>
              <a:t>System with PIN-Secured</a:t>
            </a:r>
            <a:endParaRPr lang="en-US" sz="1300" dirty="0">
              <a:latin typeface="Tahoma" panose="020B0604030504040204" pitchFamily="34" charset="0"/>
              <a:ea typeface="Tahoma" panose="020B0604030504040204" pitchFamily="34" charset="0"/>
              <a:cs typeface="Tahoma" panose="020B0604030504040204" pitchFamily="34" charset="0"/>
            </a:endParaRPr>
          </a:p>
          <a:p>
            <a:pPr marL="0" indent="0" algn="ctr">
              <a:buNone/>
            </a:pPr>
            <a:r>
              <a:rPr lang="en-US" sz="1300" dirty="0">
                <a:solidFill>
                  <a:srgbClr val="FFFFFF"/>
                </a:solidFill>
                <a:latin typeface="Tahoma" panose="020B0604030504040204" pitchFamily="34" charset="0"/>
                <a:ea typeface="Tahoma" panose="020B0604030504040204" pitchFamily="34" charset="0"/>
                <a:cs typeface="Tahoma" panose="020B0604030504040204" pitchFamily="34" charset="0"/>
              </a:rPr>
              <a:t>Student Authentication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0" name="Shape 8"/>
          <p:cNvSpPr/>
          <p:nvPr/>
        </p:nvSpPr>
        <p:spPr>
          <a:xfrm>
            <a:off x="137160" y="640080"/>
            <a:ext cx="2743200" cy="1783080"/>
          </a:xfrm>
          <a:prstGeom prst="rect">
            <a:avLst/>
          </a:prstGeom>
          <a:solidFill>
            <a:srgbClr val="132237"/>
          </a:solidFill>
          <a:ln w="25400">
            <a:solidFill>
              <a:srgbClr val="00B4D8"/>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137160" y="640080"/>
            <a:ext cx="2743200" cy="347472"/>
          </a:xfrm>
          <a:prstGeom prst="rect">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137160" y="640080"/>
            <a:ext cx="2743200"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ahoma" panose="020B0604030504040204" pitchFamily="34" charset="0"/>
                <a:ea typeface="Tahoma" panose="020B0604030504040204" pitchFamily="34" charset="0"/>
                <a:cs typeface="Tahoma" panose="020B0604030504040204" pitchFamily="34" charset="0"/>
              </a:rPr>
              <a:t>Admin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274320" y="1060704"/>
            <a:ext cx="2468880" cy="384048"/>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1. login / logout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4" name="Text 12"/>
          <p:cNvSpPr/>
          <p:nvPr/>
        </p:nvSpPr>
        <p:spPr>
          <a:xfrm>
            <a:off x="274320" y="1508760"/>
            <a:ext cx="2468880" cy="384048"/>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2. manage account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274320" y="1956816"/>
            <a:ext cx="2468880" cy="384048"/>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3. system maintenance</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16" name="Shape 14"/>
          <p:cNvSpPr/>
          <p:nvPr/>
        </p:nvSpPr>
        <p:spPr>
          <a:xfrm>
            <a:off x="6263640" y="640080"/>
            <a:ext cx="2743200" cy="1783080"/>
          </a:xfrm>
          <a:prstGeom prst="rect">
            <a:avLst/>
          </a:prstGeom>
          <a:solidFill>
            <a:srgbClr val="132237"/>
          </a:solidFill>
          <a:ln w="25400">
            <a:solidFill>
              <a:srgbClr val="F4A261"/>
            </a:solidFill>
            <a:prstDash val="solid"/>
          </a:ln>
          <a:effectLst>
            <a:outerShdw blurRad="101600" dist="38100" dir="8100000" algn="bl" rotWithShape="0">
              <a:srgbClr val="000000">
                <a:alpha val="25000"/>
              </a:srgbClr>
            </a:outerShdw>
          </a:effectLst>
        </p:spPr>
        <p:txBody>
          <a:bodyPr/>
          <a:lstStyle/>
          <a:p>
            <a:pPr marL="342900" indent="-342900">
              <a:buFont typeface="+mj-lt"/>
              <a:buAutoNum type="arabicPeriod"/>
            </a:pP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5"/>
          <p:cNvSpPr/>
          <p:nvPr/>
        </p:nvSpPr>
        <p:spPr>
          <a:xfrm>
            <a:off x="6263640" y="640080"/>
            <a:ext cx="2743200" cy="347472"/>
          </a:xfrm>
          <a:prstGeom prst="rect">
            <a:avLst/>
          </a:prstGeom>
          <a:solidFill>
            <a:srgbClr val="F4A261"/>
          </a:solidFill>
          <a:ln w="12700">
            <a:solidFill>
              <a:srgbClr val="F4A261"/>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6263640" y="640080"/>
            <a:ext cx="2743200"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ahoma" panose="020B0604030504040204" pitchFamily="34" charset="0"/>
                <a:ea typeface="Tahoma" panose="020B0604030504040204" pitchFamily="34" charset="0"/>
                <a:cs typeface="Tahoma" panose="020B0604030504040204" pitchFamily="34" charset="0"/>
              </a:rPr>
              <a:t>HOD</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6400800" y="1060704"/>
            <a:ext cx="2468880" cy="384048"/>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1. Login / out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0" name="Text 18"/>
          <p:cNvSpPr/>
          <p:nvPr/>
        </p:nvSpPr>
        <p:spPr>
          <a:xfrm>
            <a:off x="6400800" y="1508760"/>
            <a:ext cx="2468880" cy="384048"/>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2. manage appeal</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1" name="Text 19"/>
          <p:cNvSpPr/>
          <p:nvPr/>
        </p:nvSpPr>
        <p:spPr>
          <a:xfrm>
            <a:off x="6400800" y="1956816"/>
            <a:ext cx="2468880" cy="384048"/>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3. manage results</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2" name="Shape 20"/>
          <p:cNvSpPr/>
          <p:nvPr/>
        </p:nvSpPr>
        <p:spPr>
          <a:xfrm>
            <a:off x="3134068" y="2542032"/>
            <a:ext cx="2626652" cy="1865376"/>
          </a:xfrm>
          <a:prstGeom prst="rect">
            <a:avLst/>
          </a:prstGeom>
          <a:solidFill>
            <a:srgbClr val="132237"/>
          </a:solidFill>
          <a:ln w="25400">
            <a:solidFill>
              <a:srgbClr val="06D6A0"/>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3" name="Shape 21"/>
          <p:cNvSpPr/>
          <p:nvPr/>
        </p:nvSpPr>
        <p:spPr>
          <a:xfrm>
            <a:off x="3134068" y="2542032"/>
            <a:ext cx="2626652" cy="347472"/>
          </a:xfrm>
          <a:prstGeom prst="rect">
            <a:avLst/>
          </a:prstGeom>
          <a:solidFill>
            <a:srgbClr val="06D6A0"/>
          </a:solidFill>
          <a:ln w="12700">
            <a:solidFill>
              <a:srgbClr val="06D6A0"/>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4" name="Text 22"/>
          <p:cNvSpPr/>
          <p:nvPr/>
        </p:nvSpPr>
        <p:spPr>
          <a:xfrm>
            <a:off x="3017520" y="2542032"/>
            <a:ext cx="3108960"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ahoma" panose="020B0604030504040204" pitchFamily="34" charset="0"/>
                <a:ea typeface="Tahoma" panose="020B0604030504040204" pitchFamily="34" charset="0"/>
                <a:cs typeface="Tahoma" panose="020B0604030504040204" pitchFamily="34" charset="0"/>
              </a:rPr>
              <a:t>Student</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5" name="Text 23"/>
          <p:cNvSpPr/>
          <p:nvPr/>
        </p:nvSpPr>
        <p:spPr>
          <a:xfrm>
            <a:off x="3200400" y="2962656"/>
            <a:ext cx="2743200" cy="329184"/>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.login / logout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6" name="Text 24"/>
          <p:cNvSpPr/>
          <p:nvPr/>
        </p:nvSpPr>
        <p:spPr>
          <a:xfrm>
            <a:off x="3200400" y="3346704"/>
            <a:ext cx="2743200" cy="329184"/>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.view marks</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7" name="Text 25"/>
          <p:cNvSpPr/>
          <p:nvPr/>
        </p:nvSpPr>
        <p:spPr>
          <a:xfrm>
            <a:off x="3200400" y="3730752"/>
            <a:ext cx="2743200" cy="329184"/>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.submit appeal</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8" name="Text 26"/>
          <p:cNvSpPr/>
          <p:nvPr/>
        </p:nvSpPr>
        <p:spPr>
          <a:xfrm>
            <a:off x="3200400" y="4114800"/>
            <a:ext cx="2743200" cy="329184"/>
          </a:xfrm>
          <a:prstGeom prst="rect">
            <a:avLst/>
          </a:prstGeom>
          <a:noFill/>
          <a:ln/>
        </p:spPr>
        <p:txBody>
          <a:bodyPr wrap="square" rtlCol="0" anchor="ctr"/>
          <a:lstStyle/>
          <a:p>
            <a:pPr marL="0" indent="0">
              <a:buNone/>
            </a:pPr>
            <a:r>
              <a:rPr lang="en-US" sz="1200" dirty="0">
                <a:solidFill>
                  <a:srgbClr val="F0F4F8"/>
                </a:solidFill>
                <a:latin typeface="Tahoma" panose="020B0604030504040204" pitchFamily="34" charset="0"/>
                <a:ea typeface="Tahoma" panose="020B0604030504040204" pitchFamily="34" charset="0"/>
                <a:cs typeface="Tahoma" panose="020B0604030504040204" pitchFamily="34" charset="0"/>
              </a:rPr>
              <a:t>.view results</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9" name="Shape 27"/>
          <p:cNvSpPr/>
          <p:nvPr/>
        </p:nvSpPr>
        <p:spPr>
          <a:xfrm>
            <a:off x="2880360" y="1508760"/>
            <a:ext cx="502920" cy="0"/>
          </a:xfrm>
          <a:prstGeom prst="line">
            <a:avLst/>
          </a:prstGeom>
          <a:noFill/>
          <a:ln w="1905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0" name="Text 28"/>
          <p:cNvSpPr/>
          <p:nvPr/>
        </p:nvSpPr>
        <p:spPr>
          <a:xfrm>
            <a:off x="3291840" y="1380744"/>
            <a:ext cx="182880" cy="228600"/>
          </a:xfrm>
          <a:prstGeom prst="rect">
            <a:avLst/>
          </a:prstGeom>
          <a:noFill/>
          <a:ln/>
        </p:spPr>
        <p:txBody>
          <a:bodyPr wrap="square" rtlCol="0" anchor="ctr"/>
          <a:lstStyle/>
          <a:p>
            <a:pPr marL="0" indent="0">
              <a:buNone/>
            </a:pPr>
            <a:r>
              <a:rPr lang="en-US" sz="1200" b="1" dirty="0">
                <a:solidFill>
                  <a:srgbClr val="00B4D8"/>
                </a:solidFill>
                <a:latin typeface="Tahoma" panose="020B0604030504040204" pitchFamily="34" charset="0"/>
                <a:ea typeface="Tahoma" panose="020B0604030504040204" pitchFamily="34" charset="0"/>
                <a:cs typeface="Tahoma" panose="020B0604030504040204" pitchFamily="34" charset="0"/>
              </a:rPr>
              <a:t>&gt;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1" name="Shape 29"/>
          <p:cNvSpPr/>
          <p:nvPr/>
        </p:nvSpPr>
        <p:spPr>
          <a:xfrm>
            <a:off x="2880360" y="1764792"/>
            <a:ext cx="502920" cy="0"/>
          </a:xfrm>
          <a:prstGeom prst="line">
            <a:avLst/>
          </a:prstGeom>
          <a:noFill/>
          <a:ln w="19050">
            <a:solidFill>
              <a:srgbClr val="00B4D8"/>
            </a:solidFill>
            <a:prstDash val="dash"/>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2" name="Text 30"/>
          <p:cNvSpPr/>
          <p:nvPr/>
        </p:nvSpPr>
        <p:spPr>
          <a:xfrm>
            <a:off x="2834640" y="1655064"/>
            <a:ext cx="182880" cy="228600"/>
          </a:xfrm>
          <a:prstGeom prst="rect">
            <a:avLst/>
          </a:prstGeom>
          <a:noFill/>
          <a:ln/>
        </p:spPr>
        <p:txBody>
          <a:bodyPr wrap="square" rtlCol="0" anchor="ctr"/>
          <a:lstStyle/>
          <a:p>
            <a:pPr marL="0" indent="0">
              <a:buNone/>
            </a:pPr>
            <a:r>
              <a:rPr lang="en-US" sz="1200" b="1" dirty="0">
                <a:solidFill>
                  <a:srgbClr val="00B4D8"/>
                </a:solidFill>
                <a:latin typeface="Tahoma" panose="020B0604030504040204" pitchFamily="34" charset="0"/>
                <a:ea typeface="Tahoma" panose="020B0604030504040204" pitchFamily="34" charset="0"/>
                <a:cs typeface="Tahoma" panose="020B0604030504040204" pitchFamily="34" charset="0"/>
              </a:rPr>
              <a:t>&lt;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3" name="Shape 31"/>
          <p:cNvSpPr/>
          <p:nvPr/>
        </p:nvSpPr>
        <p:spPr>
          <a:xfrm>
            <a:off x="5760720" y="1508760"/>
            <a:ext cx="502920" cy="0"/>
          </a:xfrm>
          <a:prstGeom prst="line">
            <a:avLst/>
          </a:prstGeom>
          <a:noFill/>
          <a:ln w="19050">
            <a:solidFill>
              <a:srgbClr val="F4A261"/>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4" name="Text 32"/>
          <p:cNvSpPr/>
          <p:nvPr/>
        </p:nvSpPr>
        <p:spPr>
          <a:xfrm>
            <a:off x="6172200" y="1380744"/>
            <a:ext cx="182880" cy="228600"/>
          </a:xfrm>
          <a:prstGeom prst="rect">
            <a:avLst/>
          </a:prstGeom>
          <a:noFill/>
          <a:ln/>
        </p:spPr>
        <p:txBody>
          <a:bodyPr wrap="square" rtlCol="0" anchor="ctr"/>
          <a:lstStyle/>
          <a:p>
            <a:pPr marL="0" indent="0">
              <a:buNone/>
            </a:pPr>
            <a:r>
              <a:rPr lang="en-US" sz="1200" b="1" dirty="0">
                <a:solidFill>
                  <a:srgbClr val="F4A261"/>
                </a:solidFill>
                <a:latin typeface="Tahoma" panose="020B0604030504040204" pitchFamily="34" charset="0"/>
                <a:ea typeface="Tahoma" panose="020B0604030504040204" pitchFamily="34" charset="0"/>
                <a:cs typeface="Tahoma" panose="020B0604030504040204" pitchFamily="34" charset="0"/>
              </a:rPr>
              <a:t>&gt;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5" name="Shape 33"/>
          <p:cNvSpPr/>
          <p:nvPr/>
        </p:nvSpPr>
        <p:spPr>
          <a:xfrm>
            <a:off x="5760720" y="1764792"/>
            <a:ext cx="502920" cy="0"/>
          </a:xfrm>
          <a:prstGeom prst="line">
            <a:avLst/>
          </a:prstGeom>
          <a:noFill/>
          <a:ln w="19050">
            <a:solidFill>
              <a:srgbClr val="F4A261"/>
            </a:solidFill>
            <a:prstDash val="dash"/>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6" name="Text 34"/>
          <p:cNvSpPr/>
          <p:nvPr/>
        </p:nvSpPr>
        <p:spPr>
          <a:xfrm>
            <a:off x="5715000" y="1655064"/>
            <a:ext cx="182880" cy="228600"/>
          </a:xfrm>
          <a:prstGeom prst="rect">
            <a:avLst/>
          </a:prstGeom>
          <a:noFill/>
          <a:ln/>
        </p:spPr>
        <p:txBody>
          <a:bodyPr wrap="square" rtlCol="0" anchor="ctr"/>
          <a:lstStyle/>
          <a:p>
            <a:pPr marL="0" indent="0">
              <a:buNone/>
            </a:pPr>
            <a:r>
              <a:rPr lang="en-US" sz="1200" b="1" dirty="0">
                <a:solidFill>
                  <a:srgbClr val="F4A261"/>
                </a:solidFill>
                <a:latin typeface="Tahoma" panose="020B0604030504040204" pitchFamily="34" charset="0"/>
                <a:ea typeface="Tahoma" panose="020B0604030504040204" pitchFamily="34" charset="0"/>
                <a:cs typeface="Tahoma" panose="020B0604030504040204" pitchFamily="34" charset="0"/>
              </a:rPr>
              <a:t>&lt;</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7" name="Shape 35"/>
          <p:cNvSpPr/>
          <p:nvPr/>
        </p:nvSpPr>
        <p:spPr>
          <a:xfrm>
            <a:off x="4526280" y="1938528"/>
            <a:ext cx="0" cy="603504"/>
          </a:xfrm>
          <a:prstGeom prst="line">
            <a:avLst/>
          </a:prstGeom>
          <a:noFill/>
          <a:ln w="19050">
            <a:solidFill>
              <a:srgbClr val="06D6A0"/>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8" name="Text 36"/>
          <p:cNvSpPr/>
          <p:nvPr/>
        </p:nvSpPr>
        <p:spPr>
          <a:xfrm>
            <a:off x="4453128" y="2468880"/>
            <a:ext cx="182880" cy="182880"/>
          </a:xfrm>
          <a:prstGeom prst="rect">
            <a:avLst/>
          </a:prstGeom>
          <a:noFill/>
          <a:ln/>
        </p:spPr>
        <p:txBody>
          <a:bodyPr wrap="square" rtlCol="0" anchor="ctr"/>
          <a:lstStyle/>
          <a:p>
            <a:pPr marL="0" indent="0">
              <a:buNone/>
            </a:pPr>
            <a:r>
              <a:rPr lang="en-US" sz="1000" b="1" dirty="0">
                <a:solidFill>
                  <a:srgbClr val="06D6A0"/>
                </a:solidFill>
                <a:latin typeface="Tahoma" panose="020B0604030504040204" pitchFamily="34" charset="0"/>
                <a:ea typeface="Tahoma" panose="020B0604030504040204" pitchFamily="34" charset="0"/>
                <a:cs typeface="Tahoma" panose="020B0604030504040204" pitchFamily="34" charset="0"/>
              </a:rPr>
              <a:t>v</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39" name="Shape 37"/>
          <p:cNvSpPr/>
          <p:nvPr/>
        </p:nvSpPr>
        <p:spPr>
          <a:xfrm>
            <a:off x="4754880" y="1938528"/>
            <a:ext cx="0" cy="603504"/>
          </a:xfrm>
          <a:prstGeom prst="line">
            <a:avLst/>
          </a:prstGeom>
          <a:noFill/>
          <a:ln w="19050">
            <a:solidFill>
              <a:srgbClr val="06D6A0"/>
            </a:solidFill>
            <a:prstDash val="dash"/>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0" name="Text 38"/>
          <p:cNvSpPr/>
          <p:nvPr/>
        </p:nvSpPr>
        <p:spPr>
          <a:xfrm>
            <a:off x="4681728" y="1901952"/>
            <a:ext cx="182880" cy="182880"/>
          </a:xfrm>
          <a:prstGeom prst="rect">
            <a:avLst/>
          </a:prstGeom>
          <a:noFill/>
          <a:ln/>
        </p:spPr>
        <p:txBody>
          <a:bodyPr wrap="square" rtlCol="0" anchor="ctr"/>
          <a:lstStyle/>
          <a:p>
            <a:pPr marL="0" indent="0">
              <a:buNone/>
            </a:pPr>
            <a:r>
              <a:rPr lang="en-US" sz="1000" b="1" dirty="0">
                <a:solidFill>
                  <a:srgbClr val="06D6A0"/>
                </a:solidFill>
                <a:latin typeface="Tahoma" panose="020B0604030504040204" pitchFamily="34" charset="0"/>
                <a:ea typeface="Tahoma" panose="020B0604030504040204" pitchFamily="34" charset="0"/>
                <a:cs typeface="Tahoma" panose="020B0604030504040204" pitchFamily="34" charset="0"/>
              </a:rPr>
              <a:t>^</a:t>
            </a:r>
            <a:endParaRPr lang="en-US" sz="1000" dirty="0">
              <a:latin typeface="Tahoma" panose="020B0604030504040204" pitchFamily="34" charset="0"/>
              <a:ea typeface="Tahoma" panose="020B0604030504040204" pitchFamily="34" charset="0"/>
              <a:cs typeface="Tahoma" panose="020B0604030504040204" pitchFamily="34" charset="0"/>
            </a:endParaRPr>
          </a:p>
        </p:txBody>
      </p:sp>
      <p:pic>
        <p:nvPicPr>
          <p:cNvPr id="44" name="Picture 43">
            <a:extLst>
              <a:ext uri="{FF2B5EF4-FFF2-40B4-BE49-F238E27FC236}">
                <a16:creationId xmlns:a16="http://schemas.microsoft.com/office/drawing/2014/main" id="{92F1ED74-E389-3F47-D361-EC78E099AAE5}"/>
              </a:ext>
            </a:extLst>
          </p:cNvPr>
          <p:cNvPicPr>
            <a:picLocks noChangeAspect="1"/>
          </p:cNvPicPr>
          <p:nvPr/>
        </p:nvPicPr>
        <p:blipFill>
          <a:blip r:embed="rId3"/>
          <a:stretch>
            <a:fillRect/>
          </a:stretch>
        </p:blipFill>
        <p:spPr>
          <a:xfrm>
            <a:off x="3134068" y="2929128"/>
            <a:ext cx="2626652" cy="1478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buNone/>
            </a:pPr>
            <a:r>
              <a:rPr lang="en-US" sz="1300" dirty="0">
                <a:solidFill>
                  <a:srgbClr val="8DADC4"/>
                </a:solidFill>
                <a:latin typeface="Tahoma" panose="020B0604030504040204" pitchFamily="34" charset="0"/>
                <a:ea typeface="Tahoma" panose="020B0604030504040204" pitchFamily="34" charset="0"/>
                <a:cs typeface="Tahoma" panose="020B0604030504040204" pitchFamily="34" charset="0"/>
              </a:rPr>
              <a:t>5 / 15</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457200" y="164592"/>
            <a:ext cx="8229600" cy="411480"/>
          </a:xfrm>
          <a:prstGeom prst="rect">
            <a:avLst/>
          </a:prstGeom>
          <a:noFill/>
          <a:ln/>
        </p:spPr>
        <p:txBody>
          <a:bodyPr wrap="square" rtlCol="0" anchor="ctr"/>
          <a:lstStyle/>
          <a:p>
            <a:pPr marL="0" indent="0">
              <a:buNone/>
            </a:pPr>
            <a:r>
              <a:rPr lang="en-US" sz="2400" b="1" dirty="0">
                <a:solidFill>
                  <a:srgbClr val="FFFFFF"/>
                </a:solidFill>
                <a:latin typeface="Tahoma" panose="020B0604030504040204" pitchFamily="34" charset="0"/>
                <a:ea typeface="Tahoma" panose="020B0604030504040204" pitchFamily="34" charset="0"/>
                <a:cs typeface="Tahoma" panose="020B0604030504040204" pitchFamily="34" charset="0"/>
              </a:rPr>
              <a:t>System Actors &amp; Use Cases</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457200" y="612648"/>
            <a:ext cx="1371600" cy="36576"/>
          </a:xfrm>
          <a:prstGeom prst="rect">
            <a:avLst/>
          </a:prstGeom>
          <a:solidFill>
            <a:srgbClr val="00B4D8"/>
          </a:solidFill>
          <a:ln w="12700">
            <a:solidFill>
              <a:srgbClr val="00B4D8"/>
            </a:solidFill>
            <a:prstDash val="solid"/>
          </a:ln>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274320" y="777240"/>
            <a:ext cx="2743200" cy="4160520"/>
          </a:xfrm>
          <a:prstGeom prst="rect">
            <a:avLst/>
          </a:prstGeom>
          <a:solidFill>
            <a:srgbClr val="132237"/>
          </a:solidFill>
          <a:ln w="25400">
            <a:solidFill>
              <a:srgbClr val="00B4D8"/>
            </a:solidFill>
            <a:prstDash val="solid"/>
          </a:ln>
          <a:effectLst>
            <a:outerShdw blurRad="101600" dist="38100" dir="8100000" algn="bl" rotWithShape="0">
              <a:srgbClr val="000000">
                <a:alpha val="25000"/>
              </a:srgbClr>
            </a:outerShdw>
          </a:effectLst>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6" name="Shape 4"/>
          <p:cNvSpPr/>
          <p:nvPr/>
        </p:nvSpPr>
        <p:spPr>
          <a:xfrm>
            <a:off x="274320" y="777240"/>
            <a:ext cx="2743200" cy="457200"/>
          </a:xfrm>
          <a:prstGeom prst="rect">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274320" y="786384"/>
            <a:ext cx="2743200" cy="438912"/>
          </a:xfrm>
          <a:prstGeom prst="rect">
            <a:avLst/>
          </a:prstGeom>
          <a:noFill/>
          <a:ln/>
        </p:spPr>
        <p:txBody>
          <a:bodyPr wrap="square" lIns="0" tIns="0" rIns="0" bIns="0" rtlCol="0" anchor="ctr"/>
          <a:lstStyle/>
          <a:p>
            <a:pPr marL="0" indent="0" algn="ctr">
              <a:buNone/>
            </a:pPr>
            <a:r>
              <a:rPr lang="en-US" sz="1300" b="1" dirty="0">
                <a:solidFill>
                  <a:srgbClr val="0D1B2A"/>
                </a:solidFill>
                <a:latin typeface="Tahoma" panose="020B0604030504040204" pitchFamily="34" charset="0"/>
                <a:ea typeface="Tahoma" panose="020B0604030504040204" pitchFamily="34" charset="0"/>
                <a:cs typeface="Tahoma" panose="020B0604030504040204" pitchFamily="34" charset="0"/>
              </a:rPr>
              <a:t>ADMIN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457200" y="1325880"/>
            <a:ext cx="2377440" cy="347472"/>
          </a:xfrm>
          <a:prstGeom prst="rect">
            <a:avLst/>
          </a:prstGeom>
          <a:solidFill>
            <a:srgbClr val="0D2136"/>
          </a:solidFill>
          <a:ln w="6350">
            <a:solidFill>
              <a:srgbClr val="00B4D8"/>
            </a:solidFill>
            <a:prstDash val="solid"/>
          </a:ln>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457200" y="1325880"/>
            <a:ext cx="2377440" cy="347472"/>
          </a:xfrm>
          <a:prstGeom prst="rect">
            <a:avLst/>
          </a:prstGeom>
          <a:noFill/>
          <a:ln/>
        </p:spPr>
        <p:txBody>
          <a:bodyPr wrap="square" rtlCol="0" anchor="ctr"/>
          <a:lstStyle/>
          <a:p>
            <a:pPr marL="0" indent="0">
              <a:buNone/>
            </a:pPr>
            <a:r>
              <a:rPr lang="en-US" sz="1300" b="1" dirty="0">
                <a:solidFill>
                  <a:srgbClr val="00B4D8"/>
                </a:solidFill>
                <a:latin typeface="Tahoma" panose="020B0604030504040204" pitchFamily="34" charset="0"/>
                <a:ea typeface="Tahoma" panose="020B0604030504040204" pitchFamily="34" charset="0"/>
                <a:cs typeface="Tahoma" panose="020B0604030504040204" pitchFamily="34" charset="0"/>
              </a:rPr>
              <a:t>Web Portal</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11480" y="1828800"/>
            <a:ext cx="2468880" cy="566928"/>
          </a:xfrm>
          <a:prstGeom prst="rect">
            <a:avLst/>
          </a:prstGeom>
          <a:noFill/>
          <a:ln/>
        </p:spPr>
        <p:txBody>
          <a:bodyPr wrap="square" rtlCol="0" anchor="ctr"/>
          <a:lstStyle/>
          <a:p>
            <a:pPr marL="0" indent="0">
              <a:buNone/>
            </a:pPr>
            <a:r>
              <a:rPr lang="en-US" sz="1300" b="1" dirty="0">
                <a:solidFill>
                  <a:srgbClr val="00B4D8"/>
                </a:solidFill>
                <a:latin typeface="Tahoma" panose="020B0604030504040204" pitchFamily="34" charset="0"/>
                <a:ea typeface="Tahoma" panose="020B0604030504040204" pitchFamily="34" charset="0"/>
                <a:cs typeface="Tahoma" panose="020B0604030504040204" pitchFamily="34" charset="0"/>
              </a:rPr>
              <a:t>  1.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Login / Logout</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1" name="Text 9"/>
          <p:cNvSpPr/>
          <p:nvPr/>
        </p:nvSpPr>
        <p:spPr>
          <a:xfrm>
            <a:off x="411480" y="2505456"/>
            <a:ext cx="2468880" cy="566928"/>
          </a:xfrm>
          <a:prstGeom prst="rect">
            <a:avLst/>
          </a:prstGeom>
          <a:noFill/>
          <a:ln/>
        </p:spPr>
        <p:txBody>
          <a:bodyPr wrap="square" rtlCol="0" anchor="ctr"/>
          <a:lstStyle/>
          <a:p>
            <a:pPr marL="0" indent="0">
              <a:buNone/>
            </a:pPr>
            <a:r>
              <a:rPr lang="en-US" sz="1300" b="1" dirty="0">
                <a:solidFill>
                  <a:srgbClr val="0782A0"/>
                </a:solidFill>
                <a:latin typeface="Tahoma" panose="020B0604030504040204" pitchFamily="34" charset="0"/>
                <a:ea typeface="Tahoma" panose="020B0604030504040204" pitchFamily="34" charset="0"/>
                <a:cs typeface="Tahoma" panose="020B0604030504040204" pitchFamily="34" charset="0"/>
              </a:rPr>
              <a:t>2.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Manage Accounts (create Admin &amp; HOD)</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411480" y="3182112"/>
            <a:ext cx="2468880" cy="566928"/>
          </a:xfrm>
          <a:prstGeom prst="rect">
            <a:avLst/>
          </a:prstGeom>
          <a:noFill/>
          <a:ln/>
        </p:spPr>
        <p:txBody>
          <a:bodyPr wrap="square" rtlCol="0" anchor="ctr"/>
          <a:lstStyle/>
          <a:p>
            <a:pPr marL="0" indent="0">
              <a:buNone/>
            </a:pPr>
            <a:r>
              <a:rPr lang="en-US" sz="1300" dirty="0">
                <a:solidFill>
                  <a:srgbClr val="0782A0"/>
                </a:solidFill>
                <a:latin typeface="Tahoma" panose="020B0604030504040204" pitchFamily="34" charset="0"/>
                <a:ea typeface="Tahoma" panose="020B0604030504040204" pitchFamily="34" charset="0"/>
                <a:cs typeface="Tahoma" panose="020B0604030504040204" pitchFamily="34" charset="0"/>
              </a:rPr>
              <a:t>3.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System Maintenance (unlock accounts)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411480" y="3858768"/>
            <a:ext cx="2468880" cy="566928"/>
          </a:xfrm>
          <a:prstGeom prst="rect">
            <a:avLst/>
          </a:prstGeom>
          <a:noFill/>
          <a:ln/>
        </p:spPr>
        <p:txBody>
          <a:bodyPr wrap="square" rtlCol="0" anchor="ctr"/>
          <a:lstStyle/>
          <a:p>
            <a:pPr marL="0" indent="0">
              <a:buNone/>
            </a:pPr>
            <a:r>
              <a:rPr lang="en-US" sz="1300" dirty="0">
                <a:solidFill>
                  <a:srgbClr val="0782A0"/>
                </a:solidFill>
                <a:latin typeface="Tahoma" panose="020B0604030504040204" pitchFamily="34" charset="0"/>
                <a:ea typeface="Tahoma" panose="020B0604030504040204" pitchFamily="34" charset="0"/>
                <a:cs typeface="Tahoma" panose="020B0604030504040204" pitchFamily="34" charset="0"/>
              </a:rPr>
              <a:t>4.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View Access Audit Log</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4" name="Shape 12"/>
          <p:cNvSpPr/>
          <p:nvPr/>
        </p:nvSpPr>
        <p:spPr>
          <a:xfrm>
            <a:off x="3246120" y="777240"/>
            <a:ext cx="2743200" cy="4160520"/>
          </a:xfrm>
          <a:prstGeom prst="rect">
            <a:avLst/>
          </a:prstGeom>
          <a:solidFill>
            <a:srgbClr val="132237"/>
          </a:solidFill>
          <a:ln w="25400">
            <a:solidFill>
              <a:srgbClr val="F4A261"/>
            </a:solidFill>
            <a:prstDash val="solid"/>
          </a:ln>
          <a:effectLst>
            <a:outerShdw blurRad="101600" dist="38100" dir="8100000" algn="bl" rotWithShape="0">
              <a:srgbClr val="000000">
                <a:alpha val="25000"/>
              </a:srgbClr>
            </a:outerShdw>
          </a:effectLst>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15" name="Shape 13"/>
          <p:cNvSpPr/>
          <p:nvPr/>
        </p:nvSpPr>
        <p:spPr>
          <a:xfrm>
            <a:off x="3246120" y="777240"/>
            <a:ext cx="2743200" cy="457200"/>
          </a:xfrm>
          <a:prstGeom prst="rect">
            <a:avLst/>
          </a:prstGeom>
          <a:solidFill>
            <a:srgbClr val="F4A261"/>
          </a:solidFill>
          <a:ln w="12700">
            <a:solidFill>
              <a:srgbClr val="F4A261"/>
            </a:solidFill>
            <a:prstDash val="solid"/>
          </a:ln>
        </p:spPr>
        <p:txBody>
          <a:bodyPr/>
          <a:lstStyle/>
          <a:p>
            <a:pPr algn="ct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3246120" y="786384"/>
            <a:ext cx="2743200" cy="438912"/>
          </a:xfrm>
          <a:prstGeom prst="rect">
            <a:avLst/>
          </a:prstGeom>
          <a:noFill/>
          <a:ln/>
        </p:spPr>
        <p:txBody>
          <a:bodyPr wrap="square" lIns="0" tIns="0" rIns="0" bIns="0" rtlCol="0" anchor="ctr"/>
          <a:lstStyle/>
          <a:p>
            <a:pPr marL="0" indent="0" algn="ctr">
              <a:buNone/>
            </a:pPr>
            <a:r>
              <a:rPr lang="en-US" sz="1300" b="1" dirty="0">
                <a:solidFill>
                  <a:srgbClr val="0D1B2A"/>
                </a:solidFill>
                <a:latin typeface="Tahoma" panose="020B0604030504040204" pitchFamily="34" charset="0"/>
                <a:ea typeface="Tahoma" panose="020B0604030504040204" pitchFamily="34" charset="0"/>
                <a:cs typeface="Tahoma" panose="020B0604030504040204" pitchFamily="34" charset="0"/>
              </a:rPr>
              <a:t>HOD</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5"/>
          <p:cNvSpPr/>
          <p:nvPr/>
        </p:nvSpPr>
        <p:spPr>
          <a:xfrm>
            <a:off x="3429000" y="1325880"/>
            <a:ext cx="2377440" cy="347472"/>
          </a:xfrm>
          <a:prstGeom prst="rect">
            <a:avLst/>
          </a:prstGeom>
          <a:solidFill>
            <a:srgbClr val="0D2136"/>
          </a:solidFill>
          <a:ln w="6350">
            <a:solidFill>
              <a:srgbClr val="F4A261"/>
            </a:solidFill>
            <a:prstDash val="solid"/>
          </a:ln>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3429000" y="1325880"/>
            <a:ext cx="2377440" cy="347472"/>
          </a:xfrm>
          <a:prstGeom prst="rect">
            <a:avLst/>
          </a:prstGeom>
          <a:noFill/>
          <a:ln/>
        </p:spPr>
        <p:txBody>
          <a:bodyPr wrap="square" rtlCol="0" anchor="ct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Web Portal</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3383280" y="1828800"/>
            <a:ext cx="2468880" cy="566928"/>
          </a:xfrm>
          <a:prstGeom prst="rect">
            <a:avLst/>
          </a:prstGeom>
          <a:noFill/>
          <a:ln/>
        </p:spPr>
        <p:txBody>
          <a:bodyPr wrap="square" rtlCol="0" anchor="ct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 1.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Login / Logout</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0" name="Text 18"/>
          <p:cNvSpPr/>
          <p:nvPr/>
        </p:nvSpPr>
        <p:spPr>
          <a:xfrm>
            <a:off x="3383280" y="2505456"/>
            <a:ext cx="2468880" cy="566928"/>
          </a:xfrm>
          <a:prstGeom prst="rect">
            <a:avLst/>
          </a:prstGeom>
          <a:noFill/>
          <a:ln/>
        </p:spPr>
        <p:txBody>
          <a:bodyPr wrap="square" rtlCol="0" anchor="ct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 2.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Manage Appeals (Approve / Reject)</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1" name="Text 19"/>
          <p:cNvSpPr/>
          <p:nvPr/>
        </p:nvSpPr>
        <p:spPr>
          <a:xfrm>
            <a:off x="3383280" y="3182112"/>
            <a:ext cx="2468880" cy="566928"/>
          </a:xfrm>
          <a:prstGeom prst="rect">
            <a:avLst/>
          </a:prstGeom>
          <a:noFill/>
          <a:ln/>
        </p:spPr>
        <p:txBody>
          <a:bodyPr wrap="square" rtlCol="0" anchor="ctr"/>
          <a:lstStyle/>
          <a:p>
            <a:pPr marL="0" indent="0">
              <a:buNone/>
            </a:pPr>
            <a:r>
              <a:rPr lang="en-US" sz="1300" dirty="0">
                <a:solidFill>
                  <a:srgbClr val="AD7A54"/>
                </a:solidFill>
                <a:latin typeface="Tahoma" panose="020B0604030504040204" pitchFamily="34" charset="0"/>
                <a:ea typeface="Tahoma" panose="020B0604030504040204" pitchFamily="34" charset="0"/>
                <a:cs typeface="Tahoma" panose="020B0604030504040204" pitchFamily="34" charset="0"/>
              </a:rPr>
              <a:t>3.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Manage Results (view &amp; update marks)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2" name="Text 20"/>
          <p:cNvSpPr/>
          <p:nvPr/>
        </p:nvSpPr>
        <p:spPr>
          <a:xfrm>
            <a:off x="3383280" y="3858768"/>
            <a:ext cx="2468880" cy="566928"/>
          </a:xfrm>
          <a:prstGeom prst="rect">
            <a:avLst/>
          </a:prstGeom>
          <a:noFill/>
          <a:ln/>
        </p:spPr>
        <p:txBody>
          <a:bodyPr wrap="square" rtlCol="0" anchor="ct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 4.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Review appeal reasons &amp;            decisions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3" name="Shape 21"/>
          <p:cNvSpPr/>
          <p:nvPr/>
        </p:nvSpPr>
        <p:spPr>
          <a:xfrm>
            <a:off x="6217920" y="777240"/>
            <a:ext cx="2743200" cy="4160520"/>
          </a:xfrm>
          <a:prstGeom prst="rect">
            <a:avLst/>
          </a:prstGeom>
          <a:solidFill>
            <a:srgbClr val="132237"/>
          </a:solidFill>
          <a:ln w="25400">
            <a:solidFill>
              <a:srgbClr val="06D6A0"/>
            </a:solidFill>
            <a:prstDash val="solid"/>
          </a:ln>
          <a:effectLst>
            <a:outerShdw blurRad="101600" dist="38100" dir="8100000" algn="bl" rotWithShape="0">
              <a:srgbClr val="000000">
                <a:alpha val="25000"/>
              </a:srgbClr>
            </a:outerShdw>
          </a:effectLst>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24" name="Shape 22"/>
          <p:cNvSpPr/>
          <p:nvPr/>
        </p:nvSpPr>
        <p:spPr>
          <a:xfrm>
            <a:off x="6217920" y="777240"/>
            <a:ext cx="2743200" cy="457200"/>
          </a:xfrm>
          <a:prstGeom prst="rect">
            <a:avLst/>
          </a:prstGeom>
          <a:solidFill>
            <a:srgbClr val="06D6A0"/>
          </a:solidFill>
          <a:ln w="12700">
            <a:solidFill>
              <a:srgbClr val="06D6A0"/>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5" name="Text 23"/>
          <p:cNvSpPr/>
          <p:nvPr/>
        </p:nvSpPr>
        <p:spPr>
          <a:xfrm>
            <a:off x="6217920" y="786384"/>
            <a:ext cx="2743200" cy="438912"/>
          </a:xfrm>
          <a:prstGeom prst="rect">
            <a:avLst/>
          </a:prstGeom>
          <a:noFill/>
          <a:ln/>
        </p:spPr>
        <p:txBody>
          <a:bodyPr wrap="square" lIns="0" tIns="0" rIns="0" bIns="0" rtlCol="0" anchor="ctr"/>
          <a:lstStyle/>
          <a:p>
            <a:pPr marL="0" indent="0" algn="ctr">
              <a:buNone/>
            </a:pPr>
            <a:r>
              <a:rPr lang="en-US" sz="1300" b="1" dirty="0">
                <a:solidFill>
                  <a:srgbClr val="0D1B2A"/>
                </a:solidFill>
                <a:latin typeface="Tahoma" panose="020B0604030504040204" pitchFamily="34" charset="0"/>
                <a:ea typeface="Tahoma" panose="020B0604030504040204" pitchFamily="34" charset="0"/>
                <a:cs typeface="Tahoma" panose="020B0604030504040204" pitchFamily="34" charset="0"/>
              </a:rPr>
              <a:t>STUDENT</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6" name="Shape 24"/>
          <p:cNvSpPr/>
          <p:nvPr/>
        </p:nvSpPr>
        <p:spPr>
          <a:xfrm>
            <a:off x="6400800" y="1325880"/>
            <a:ext cx="2377440" cy="347472"/>
          </a:xfrm>
          <a:prstGeom prst="rect">
            <a:avLst/>
          </a:prstGeom>
          <a:solidFill>
            <a:srgbClr val="0D2136"/>
          </a:solidFill>
          <a:ln w="6350">
            <a:solidFill>
              <a:srgbClr val="06D6A0"/>
            </a:solidFill>
            <a:prstDash val="solid"/>
          </a:ln>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27" name="Text 25"/>
          <p:cNvSpPr/>
          <p:nvPr/>
        </p:nvSpPr>
        <p:spPr>
          <a:xfrm>
            <a:off x="6400800" y="1325880"/>
            <a:ext cx="2377440" cy="347472"/>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USSD *XXX#</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8" name="Text 26"/>
          <p:cNvSpPr/>
          <p:nvPr/>
        </p:nvSpPr>
        <p:spPr>
          <a:xfrm>
            <a:off x="6355080" y="1828800"/>
            <a:ext cx="2468880" cy="566928"/>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  1.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Login via USSD + 4-digit PIN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9" name="Text 27"/>
          <p:cNvSpPr/>
          <p:nvPr/>
        </p:nvSpPr>
        <p:spPr>
          <a:xfrm>
            <a:off x="6355080" y="2505456"/>
            <a:ext cx="2468880" cy="566928"/>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  2.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View Marks / Results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30" name="Text 28"/>
          <p:cNvSpPr/>
          <p:nvPr/>
        </p:nvSpPr>
        <p:spPr>
          <a:xfrm>
            <a:off x="6355080" y="3182112"/>
            <a:ext cx="2468880" cy="566928"/>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  3.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Submit Appeal (module + reason)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31" name="Text 29"/>
          <p:cNvSpPr/>
          <p:nvPr/>
        </p:nvSpPr>
        <p:spPr>
          <a:xfrm>
            <a:off x="6355080" y="3858768"/>
            <a:ext cx="2468880" cy="566928"/>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  4.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View Appeal Status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32" name="Text 30"/>
          <p:cNvSpPr/>
          <p:nvPr/>
        </p:nvSpPr>
        <p:spPr>
          <a:xfrm>
            <a:off x="6355080" y="4535424"/>
            <a:ext cx="2468880" cy="566928"/>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  </a:t>
            </a: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Reset PIN via OTP</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33" name="Shape 31"/>
          <p:cNvSpPr/>
          <p:nvPr/>
        </p:nvSpPr>
        <p:spPr>
          <a:xfrm>
            <a:off x="274320" y="4681728"/>
            <a:ext cx="8595360" cy="347472"/>
          </a:xfrm>
          <a:prstGeom prst="rect">
            <a:avLst/>
          </a:prstGeom>
          <a:solidFill>
            <a:srgbClr val="071426"/>
          </a:solidFill>
          <a:ln w="12700">
            <a:solidFill>
              <a:srgbClr val="1A3348"/>
            </a:solidFill>
            <a:prstDash val="solid"/>
          </a:ln>
        </p:spPr>
        <p:txBody>
          <a:bodyPr/>
          <a:lstStyle/>
          <a:p>
            <a:endParaRPr lang="en-US" sz="1300">
              <a:latin typeface="Tahoma" panose="020B0604030504040204" pitchFamily="34" charset="0"/>
              <a:ea typeface="Tahoma" panose="020B0604030504040204" pitchFamily="34" charset="0"/>
              <a:cs typeface="Tahoma" panose="020B0604030504040204" pitchFamily="34" charset="0"/>
            </a:endParaRPr>
          </a:p>
        </p:txBody>
      </p:sp>
      <p:sp>
        <p:nvSpPr>
          <p:cNvPr id="34" name="Text 32"/>
          <p:cNvSpPr/>
          <p:nvPr/>
        </p:nvSpPr>
        <p:spPr>
          <a:xfrm>
            <a:off x="457200" y="4709160"/>
            <a:ext cx="8229600" cy="274320"/>
          </a:xfrm>
          <a:prstGeom prst="rect">
            <a:avLst/>
          </a:prstGeom>
          <a:noFill/>
          <a:ln/>
        </p:spPr>
        <p:txBody>
          <a:bodyPr wrap="square" rtlCol="0" anchor="ctr"/>
          <a:lstStyle/>
          <a:p>
            <a:pPr marL="0" indent="0">
              <a:buNone/>
            </a:pPr>
            <a:r>
              <a:rPr lang="en-US" sz="1300" dirty="0">
                <a:solidFill>
                  <a:srgbClr val="8DADC4"/>
                </a:solidFill>
                <a:latin typeface="Tahoma" panose="020B0604030504040204" pitchFamily="34" charset="0"/>
                <a:ea typeface="Tahoma" panose="020B0604030504040204" pitchFamily="34" charset="0"/>
                <a:cs typeface="Tahoma" panose="020B0604030504040204" pitchFamily="34" charset="0"/>
              </a:rPr>
              <a:t>All 3 actors interact with the USSD-Based Marks Appeal System   each through a dedicated access channel</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900" dirty="0">
                <a:solidFill>
                  <a:srgbClr val="8DADC4"/>
                </a:solidFill>
                <a:latin typeface="Tahoma" panose="020B0604030504040204" pitchFamily="34" charset="0"/>
                <a:ea typeface="Tahoma" panose="020B0604030504040204" pitchFamily="34" charset="0"/>
                <a:cs typeface="Tahoma" panose="020B0604030504040204" pitchFamily="34" charset="0"/>
              </a:rPr>
              <a:t>8 / 15</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457200" y="164592"/>
            <a:ext cx="8229600" cy="411480"/>
          </a:xfrm>
          <a:prstGeom prst="rect">
            <a:avLst/>
          </a:prstGeom>
          <a:noFill/>
          <a:ln/>
        </p:spPr>
        <p:txBody>
          <a:bodyPr wrap="square" rtlCol="0" anchor="ctr"/>
          <a:lstStyle/>
          <a:p>
            <a:pPr marL="0" indent="0">
              <a:buNone/>
            </a:pPr>
            <a:r>
              <a:rPr lang="en-US" sz="2400" b="1" dirty="0">
                <a:solidFill>
                  <a:srgbClr val="FFFFFF"/>
                </a:solidFill>
                <a:latin typeface="Tahoma" panose="020B0604030504040204" pitchFamily="34" charset="0"/>
                <a:ea typeface="Tahoma" panose="020B0604030504040204" pitchFamily="34" charset="0"/>
                <a:cs typeface="Tahoma" panose="020B0604030504040204" pitchFamily="34" charset="0"/>
              </a:rPr>
              <a:t>Research Methodology</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457200" y="612648"/>
            <a:ext cx="1463040" cy="36576"/>
          </a:xfrm>
          <a:prstGeom prst="rect">
            <a:avLst/>
          </a:prstGeom>
          <a:solidFill>
            <a:srgbClr val="00B4D8"/>
          </a:solidFill>
          <a:ln w="12700">
            <a:solidFill>
              <a:srgbClr val="00B4D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274320" y="777240"/>
            <a:ext cx="4206240" cy="1828800"/>
          </a:xfrm>
          <a:prstGeom prst="rect">
            <a:avLst/>
          </a:prstGeom>
          <a:solidFill>
            <a:srgbClr val="132237"/>
          </a:solidFill>
          <a:ln w="12700">
            <a:solidFill>
              <a:srgbClr val="00B4D8"/>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457200" y="822960"/>
            <a:ext cx="3840480" cy="292608"/>
          </a:xfrm>
          <a:prstGeom prst="rect">
            <a:avLst/>
          </a:prstGeom>
          <a:noFill/>
          <a:ln/>
        </p:spPr>
        <p:txBody>
          <a:bodyPr wrap="square" rtlCol="0" anchor="ctr"/>
          <a:lstStyle/>
          <a:p>
            <a:pPr marL="0" indent="0">
              <a:buNone/>
            </a:pPr>
            <a:r>
              <a:rPr lang="en-US" sz="1300" b="1" dirty="0">
                <a:solidFill>
                  <a:srgbClr val="00B4D8"/>
                </a:solidFill>
                <a:latin typeface="Tahoma" panose="020B0604030504040204" pitchFamily="34" charset="0"/>
                <a:ea typeface="Tahoma" panose="020B0604030504040204" pitchFamily="34" charset="0"/>
                <a:cs typeface="Tahoma" panose="020B0604030504040204" pitchFamily="34" charset="0"/>
              </a:rPr>
              <a:t>Research Design</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457200" y="1170432"/>
            <a:ext cx="3840480" cy="329184"/>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Applied research Design Science Research (DSR) paradigm (Hevner et al., 2004)</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8" name="Text 6"/>
          <p:cNvSpPr/>
          <p:nvPr/>
        </p:nvSpPr>
        <p:spPr>
          <a:xfrm>
            <a:off x="457200" y="1536192"/>
            <a:ext cx="3840480" cy="329184"/>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Mixed methods: quantitative surveys + qualitative interviews (triangulation)</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457200" y="1901952"/>
            <a:ext cx="3840480" cy="329184"/>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System development: Agile/Iterative  6 sprints over 18 weeks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57200" y="2267712"/>
            <a:ext cx="3840480" cy="329184"/>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&gt;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Waterfall model for sequential phase documentation</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4663440" y="777240"/>
            <a:ext cx="4206240" cy="1828800"/>
          </a:xfrm>
          <a:prstGeom prst="rect">
            <a:avLst/>
          </a:prstGeom>
          <a:solidFill>
            <a:srgbClr val="132237"/>
          </a:solidFill>
          <a:ln w="12700">
            <a:solidFill>
              <a:srgbClr val="F4A261"/>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4846320" y="822960"/>
            <a:ext cx="3840480" cy="292608"/>
          </a:xfrm>
          <a:prstGeom prst="rect">
            <a:avLst/>
          </a:prstGeom>
          <a:noFill/>
          <a:ln/>
        </p:spPr>
        <p:txBody>
          <a:bodyPr wrap="square" rtlCol="0" anchor="ct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Population &amp; Sample</a:t>
            </a:r>
            <a:endParaRPr lang="en-US" sz="13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3" name="Table 0"/>
          <p:cNvGraphicFramePr>
            <a:graphicFrameLocks noGrp="1"/>
          </p:cNvGraphicFramePr>
          <p:nvPr>
            <p:extLst>
              <p:ext uri="{D42A27DB-BD31-4B8C-83A1-F6EECF244321}">
                <p14:modId xmlns:p14="http://schemas.microsoft.com/office/powerpoint/2010/main" val="4231060132"/>
              </p:ext>
            </p:extLst>
          </p:nvPr>
        </p:nvGraphicFramePr>
        <p:xfrm>
          <a:off x="4846320" y="1170432"/>
          <a:ext cx="3749040" cy="1280160"/>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20040">
                <a:tc>
                  <a:txBody>
                    <a:bodyPr/>
                    <a:lstStyle/>
                    <a:p>
                      <a:pPr marL="0" indent="0">
                        <a:buNone/>
                      </a:pPr>
                      <a:r>
                        <a:rPr lang="en-US" sz="1100" b="1" dirty="0">
                          <a:solidFill>
                            <a:schemeClr val="bg1"/>
                          </a:solidFill>
                        </a:rPr>
                        <a:t>Respondents</a:t>
                      </a:r>
                      <a:endParaRPr lang="en-US" sz="1100" dirty="0">
                        <a:solidFill>
                          <a:schemeClr val="bg1"/>
                        </a:solidFill>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b="1" dirty="0">
                          <a:solidFill>
                            <a:schemeClr val="bg1"/>
                          </a:solidFill>
                        </a:rPr>
                        <a:t>Population</a:t>
                      </a:r>
                      <a:endParaRPr lang="en-US" sz="1100" dirty="0">
                        <a:solidFill>
                          <a:schemeClr val="bg1"/>
                        </a:solidFill>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b="1" dirty="0">
                          <a:solidFill>
                            <a:schemeClr val="bg1"/>
                          </a:solidFill>
                        </a:rPr>
                        <a:t>Sample</a:t>
                      </a:r>
                      <a:endParaRPr lang="en-US" sz="1100" dirty="0">
                        <a:solidFill>
                          <a:schemeClr val="bg1"/>
                        </a:solidFill>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F0F4F8"/>
                          </a:solidFill>
                        </a:rPr>
                        <a:t>Students</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dirty="0">
                          <a:solidFill>
                            <a:srgbClr val="F0F4F8"/>
                          </a:solidFill>
                        </a:rPr>
                        <a:t>5,380</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b="1" dirty="0">
                          <a:solidFill>
                            <a:srgbClr val="00B4D8"/>
                          </a:solidFill>
                        </a:rPr>
                        <a:t>372</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1"/>
                  </a:ext>
                </a:extLst>
              </a:tr>
              <a:tr h="320040">
                <a:tc>
                  <a:txBody>
                    <a:bodyPr/>
                    <a:lstStyle/>
                    <a:p>
                      <a:pPr marL="0" indent="0">
                        <a:buNone/>
                      </a:pPr>
                      <a:r>
                        <a:rPr lang="en-US" sz="1100" dirty="0">
                          <a:solidFill>
                            <a:srgbClr val="F0F4F8"/>
                          </a:solidFill>
                        </a:rPr>
                        <a:t>Deans &amp; HoD</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dirty="0">
                          <a:solidFill>
                            <a:srgbClr val="F0F4F8"/>
                          </a:solidFill>
                        </a:rPr>
                        <a:t>20</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b="1" dirty="0">
                          <a:solidFill>
                            <a:srgbClr val="00B4D8"/>
                          </a:solidFill>
                        </a:rPr>
                        <a:t>19</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F4A261"/>
                          </a:solidFill>
                        </a:rPr>
                        <a:t>Total</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dirty="0">
                          <a:solidFill>
                            <a:srgbClr val="F4A261"/>
                          </a:solidFill>
                        </a:rPr>
                        <a:t>5,400</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100" b="1" dirty="0">
                          <a:solidFill>
                            <a:srgbClr val="F4A261"/>
                          </a:solidFill>
                        </a:rPr>
                        <a:t>391</a:t>
                      </a:r>
                      <a:endParaRPr lang="en-US" sz="1100" dirty="0"/>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3"/>
                  </a:ext>
                </a:extLst>
              </a:tr>
            </a:tbl>
          </a:graphicData>
        </a:graphic>
      </p:graphicFrame>
      <p:sp>
        <p:nvSpPr>
          <p:cNvPr id="14" name="Shape 11"/>
          <p:cNvSpPr/>
          <p:nvPr/>
        </p:nvSpPr>
        <p:spPr>
          <a:xfrm>
            <a:off x="274320" y="2761488"/>
            <a:ext cx="8595360" cy="1417320"/>
          </a:xfrm>
          <a:prstGeom prst="rect">
            <a:avLst/>
          </a:prstGeom>
          <a:solidFill>
            <a:srgbClr val="132237"/>
          </a:solidFill>
          <a:ln w="12700">
            <a:solidFill>
              <a:srgbClr val="06D6A0"/>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5" name="Text 12"/>
          <p:cNvSpPr/>
          <p:nvPr/>
        </p:nvSpPr>
        <p:spPr>
          <a:xfrm>
            <a:off x="457200" y="2807208"/>
            <a:ext cx="3657600" cy="292608"/>
          </a:xfrm>
          <a:prstGeom prst="rect">
            <a:avLst/>
          </a:prstGeom>
          <a:noFill/>
          <a:ln/>
        </p:spPr>
        <p:txBody>
          <a:bodyPr wrap="square" rtlCol="0" anchor="ctr"/>
          <a:lstStyle/>
          <a:p>
            <a:pPr marL="0" indent="0">
              <a:buNone/>
            </a:pPr>
            <a:r>
              <a:rPr lang="en-US" sz="1300" b="1" dirty="0">
                <a:solidFill>
                  <a:srgbClr val="06D6A0"/>
                </a:solidFill>
                <a:latin typeface="Tahoma" panose="020B0604030504040204" pitchFamily="34" charset="0"/>
                <a:ea typeface="Tahoma" panose="020B0604030504040204" pitchFamily="34" charset="0"/>
                <a:cs typeface="Tahoma" panose="020B0604030504040204" pitchFamily="34" charset="0"/>
              </a:rPr>
              <a:t>Data Collection Tools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3"/>
          <p:cNvSpPr/>
          <p:nvPr/>
        </p:nvSpPr>
        <p:spPr>
          <a:xfrm>
            <a:off x="457200" y="3154680"/>
            <a:ext cx="4114800" cy="384048"/>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Questionnaires: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Structured surveys to 372 students on usability and system needs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17" name="Text 14"/>
          <p:cNvSpPr/>
          <p:nvPr/>
        </p:nvSpPr>
        <p:spPr>
          <a:xfrm>
            <a:off x="457200" y="3611880"/>
            <a:ext cx="4114800" cy="384048"/>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Interviews: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Semi-structured interviews with Deans &amp; HoD on admin workflows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18" name="Text 15"/>
          <p:cNvSpPr/>
          <p:nvPr/>
        </p:nvSpPr>
        <p:spPr>
          <a:xfrm>
            <a:off x="4754880" y="3154680"/>
            <a:ext cx="4114800" cy="384048"/>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Observation: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Direct observation of current manual appeal process at ULK</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6"/>
          <p:cNvSpPr/>
          <p:nvPr/>
        </p:nvSpPr>
        <p:spPr>
          <a:xfrm>
            <a:off x="4754880" y="3611880"/>
            <a:ext cx="4114800" cy="384048"/>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Document Review: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Analysis of existing appeal records, forms, and admin procedures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0" name="Shape 17"/>
          <p:cNvSpPr/>
          <p:nvPr/>
        </p:nvSpPr>
        <p:spPr>
          <a:xfrm>
            <a:off x="274320" y="4315968"/>
            <a:ext cx="8595360" cy="658368"/>
          </a:xfrm>
          <a:prstGeom prst="rect">
            <a:avLst/>
          </a:prstGeom>
          <a:solidFill>
            <a:srgbClr val="132237"/>
          </a:solidFill>
          <a:ln w="12700">
            <a:solidFill>
              <a:srgbClr val="8DADC4"/>
            </a:solidFill>
            <a:prstDash val="solid"/>
          </a:ln>
          <a:effectLst>
            <a:outerShdw blurRad="101600" dist="38100" dir="8100000" algn="bl" rotWithShape="0">
              <a:srgbClr val="000000">
                <a:alpha val="25000"/>
              </a:srgbClr>
            </a:outerShdw>
          </a:effectLst>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1" name="Text 18"/>
          <p:cNvSpPr/>
          <p:nvPr/>
        </p:nvSpPr>
        <p:spPr>
          <a:xfrm>
            <a:off x="457200" y="4361688"/>
            <a:ext cx="8229600" cy="566928"/>
          </a:xfrm>
          <a:prstGeom prst="rect">
            <a:avLst/>
          </a:prstGeom>
          <a:noFill/>
          <a:ln/>
        </p:spPr>
        <p:txBody>
          <a:bodyPr wrap="square" rtlCol="0" anchor="ctr"/>
          <a:lstStyle/>
          <a:p>
            <a:pPr marL="0" indent="0">
              <a:buNone/>
            </a:pPr>
            <a:r>
              <a:rPr lang="en-US" sz="1050" b="1" dirty="0">
                <a:solidFill>
                  <a:srgbClr val="00B4D8"/>
                </a:solidFill>
                <a:latin typeface="Tahoma" panose="020B0604030504040204" pitchFamily="34" charset="0"/>
                <a:ea typeface="Tahoma" panose="020B0604030504040204" pitchFamily="34" charset="0"/>
                <a:cs typeface="Tahoma" panose="020B0604030504040204" pitchFamily="34" charset="0"/>
              </a:rPr>
              <a:t>Validity: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Content, construct &amp; face validity via expert review   </a:t>
            </a:r>
            <a:r>
              <a:rPr lang="en-US" sz="1050" b="1" dirty="0">
                <a:solidFill>
                  <a:srgbClr val="F4A261"/>
                </a:solidFill>
                <a:latin typeface="Tahoma" panose="020B0604030504040204" pitchFamily="34" charset="0"/>
                <a:ea typeface="Tahoma" panose="020B0604030504040204" pitchFamily="34" charset="0"/>
                <a:cs typeface="Tahoma" panose="020B0604030504040204" pitchFamily="34" charset="0"/>
              </a:rPr>
              <a:t>  Reliability: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Pilot testing, internal consistency   </a:t>
            </a:r>
            <a:r>
              <a:rPr lang="en-US" sz="1050" b="1" dirty="0">
                <a:solidFill>
                  <a:srgbClr val="06D6A0"/>
                </a:solidFill>
                <a:latin typeface="Tahoma" panose="020B0604030504040204" pitchFamily="34" charset="0"/>
                <a:ea typeface="Tahoma" panose="020B0604030504040204" pitchFamily="34" charset="0"/>
                <a:cs typeface="Tahoma" panose="020B0604030504040204" pitchFamily="34" charset="0"/>
              </a:rPr>
              <a:t>  Ethics: </a:t>
            </a:r>
            <a:r>
              <a:rPr lang="en-US" sz="1050" dirty="0">
                <a:solidFill>
                  <a:srgbClr val="F0F4F8"/>
                </a:solidFill>
                <a:latin typeface="Tahoma" panose="020B0604030504040204" pitchFamily="34" charset="0"/>
                <a:ea typeface="Tahoma" panose="020B0604030504040204" pitchFamily="34" charset="0"/>
                <a:cs typeface="Tahoma" panose="020B0604030504040204" pitchFamily="34" charset="0"/>
              </a:rPr>
              <a:t>Informed consent, anonymization, voluntary participation</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900" dirty="0">
                <a:solidFill>
                  <a:srgbClr val="8DADC4"/>
                </a:solidFill>
              </a:rPr>
              <a:t>9 / 15</a:t>
            </a:r>
            <a:endParaRPr lang="en-US" sz="900" dirty="0"/>
          </a:p>
        </p:txBody>
      </p:sp>
      <p:sp>
        <p:nvSpPr>
          <p:cNvPr id="3" name="Text 1"/>
          <p:cNvSpPr/>
          <p:nvPr/>
        </p:nvSpPr>
        <p:spPr>
          <a:xfrm>
            <a:off x="457200" y="164592"/>
            <a:ext cx="8229600" cy="411480"/>
          </a:xfrm>
          <a:prstGeom prst="rect">
            <a:avLst/>
          </a:prstGeom>
          <a:noFill/>
          <a:ln/>
        </p:spPr>
        <p:txBody>
          <a:bodyPr wrap="square" rtlCol="0" anchor="ctr"/>
          <a:lstStyle/>
          <a:p>
            <a:pPr marL="0" indent="0">
              <a:buNone/>
            </a:pPr>
            <a:r>
              <a:rPr lang="en-US" sz="2400" b="1" dirty="0">
                <a:solidFill>
                  <a:srgbClr val="FFFFFF"/>
                </a:solidFill>
                <a:latin typeface="Tahoma" panose="020B0604030504040204" pitchFamily="34" charset="0"/>
                <a:ea typeface="Tahoma" panose="020B0604030504040204" pitchFamily="34" charset="0"/>
                <a:cs typeface="Tahoma" panose="020B0604030504040204" pitchFamily="34" charset="0"/>
              </a:rPr>
              <a:t>System Architecture</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457200" y="612648"/>
            <a:ext cx="1280160" cy="36576"/>
          </a:xfrm>
          <a:prstGeom prst="rect">
            <a:avLst/>
          </a:prstGeom>
          <a:solidFill>
            <a:srgbClr val="00B4D8"/>
          </a:solidFill>
          <a:ln w="12700">
            <a:solidFill>
              <a:srgbClr val="00B4D8"/>
            </a:solidFill>
            <a:prstDash val="solid"/>
          </a:ln>
        </p:spPr>
        <p:txBody>
          <a:bodyPr/>
          <a:lstStyle/>
          <a:p>
            <a:endParaRPr lang="en-US"/>
          </a:p>
        </p:txBody>
      </p:sp>
      <p:sp>
        <p:nvSpPr>
          <p:cNvPr id="5" name="Shape 3"/>
          <p:cNvSpPr/>
          <p:nvPr/>
        </p:nvSpPr>
        <p:spPr>
          <a:xfrm>
            <a:off x="274320" y="777240"/>
            <a:ext cx="2743200" cy="4160520"/>
          </a:xfrm>
          <a:prstGeom prst="rect">
            <a:avLst/>
          </a:prstGeom>
          <a:solidFill>
            <a:srgbClr val="132237"/>
          </a:solidFill>
          <a:ln w="1905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274320" y="777240"/>
            <a:ext cx="2743200" cy="384048"/>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6217920" y="2948940"/>
            <a:ext cx="2743200" cy="365760"/>
          </a:xfrm>
          <a:prstGeom prst="rect">
            <a:avLst/>
          </a:prstGeom>
          <a:noFill/>
          <a:ln/>
        </p:spPr>
        <p:txBody>
          <a:bodyPr wrap="square" lIns="0" tIns="0" rIns="0" bIns="0" rtlCol="0" anchor="ctr"/>
          <a:lstStyle/>
          <a:p>
            <a:pPr marL="0" indent="0" algn="ctr">
              <a:buNone/>
            </a:pPr>
            <a:r>
              <a:rPr lang="en-US" sz="1000" b="1" dirty="0">
                <a:solidFill>
                  <a:srgbClr val="0D1B2A"/>
                </a:solidFill>
              </a:rPr>
              <a:t>PRESENTATION TIER</a:t>
            </a:r>
            <a:endParaRPr lang="en-US" sz="1000" dirty="0"/>
          </a:p>
        </p:txBody>
      </p:sp>
      <p:sp>
        <p:nvSpPr>
          <p:cNvPr id="8" name="Shape 6"/>
          <p:cNvSpPr/>
          <p:nvPr/>
        </p:nvSpPr>
        <p:spPr>
          <a:xfrm>
            <a:off x="457200" y="1298448"/>
            <a:ext cx="2377440" cy="658368"/>
          </a:xfrm>
          <a:prstGeom prst="rect">
            <a:avLst/>
          </a:prstGeom>
          <a:solidFill>
            <a:srgbClr val="0D2136"/>
          </a:solidFill>
          <a:ln w="6350">
            <a:solidFill>
              <a:srgbClr val="00B4D8"/>
            </a:solidFill>
            <a:prstDash val="solid"/>
          </a:ln>
        </p:spPr>
        <p:txBody>
          <a:bodyPr/>
          <a:lstStyle/>
          <a:p>
            <a:endParaRPr lang="en-US"/>
          </a:p>
        </p:txBody>
      </p:sp>
      <p:sp>
        <p:nvSpPr>
          <p:cNvPr id="9" name="Text 7"/>
          <p:cNvSpPr/>
          <p:nvPr/>
        </p:nvSpPr>
        <p:spPr>
          <a:xfrm>
            <a:off x="502920" y="1316736"/>
            <a:ext cx="2286000" cy="621792"/>
          </a:xfrm>
          <a:prstGeom prst="rect">
            <a:avLst/>
          </a:prstGeom>
          <a:noFill/>
          <a:ln/>
        </p:spPr>
        <p:txBody>
          <a:bodyPr wrap="square" rtlCol="0" anchor="ctr"/>
          <a:lstStyle/>
          <a:p>
            <a:pPr marL="0" indent="0" algn="ctr">
              <a:buNone/>
            </a:pPr>
            <a:r>
              <a:rPr lang="en-US" sz="1100" dirty="0">
                <a:solidFill>
                  <a:srgbClr val="FFFFFF"/>
                </a:solidFill>
              </a:rPr>
              <a:t>Student Mobile (GSM)</a:t>
            </a:r>
            <a:endParaRPr lang="en-US" sz="1100" dirty="0"/>
          </a:p>
        </p:txBody>
      </p:sp>
      <p:sp>
        <p:nvSpPr>
          <p:cNvPr id="10" name="Shape 8"/>
          <p:cNvSpPr/>
          <p:nvPr/>
        </p:nvSpPr>
        <p:spPr>
          <a:xfrm>
            <a:off x="457200" y="2066544"/>
            <a:ext cx="2377440" cy="658368"/>
          </a:xfrm>
          <a:prstGeom prst="rect">
            <a:avLst/>
          </a:prstGeom>
          <a:solidFill>
            <a:srgbClr val="0D2136"/>
          </a:solidFill>
          <a:ln w="6350">
            <a:solidFill>
              <a:srgbClr val="00B4D8"/>
            </a:solidFill>
            <a:prstDash val="solid"/>
          </a:ln>
        </p:spPr>
        <p:txBody>
          <a:bodyPr/>
          <a:lstStyle/>
          <a:p>
            <a:endParaRPr lang="en-US"/>
          </a:p>
        </p:txBody>
      </p:sp>
      <p:sp>
        <p:nvSpPr>
          <p:cNvPr id="11" name="Text 9"/>
          <p:cNvSpPr/>
          <p:nvPr/>
        </p:nvSpPr>
        <p:spPr>
          <a:xfrm>
            <a:off x="502920" y="2084832"/>
            <a:ext cx="2286000" cy="621792"/>
          </a:xfrm>
          <a:prstGeom prst="rect">
            <a:avLst/>
          </a:prstGeom>
          <a:noFill/>
          <a:ln/>
        </p:spPr>
        <p:txBody>
          <a:bodyPr wrap="square" rtlCol="0" anchor="ctr"/>
          <a:lstStyle/>
          <a:p>
            <a:pPr marL="0" indent="0" algn="ctr">
              <a:buNone/>
            </a:pPr>
            <a:r>
              <a:rPr lang="en-US" sz="1100" dirty="0">
                <a:solidFill>
                  <a:srgbClr val="FFFFFF"/>
                </a:solidFill>
              </a:rPr>
              <a:t>Admin Browser</a:t>
            </a:r>
            <a:endParaRPr lang="en-US" sz="1100" dirty="0"/>
          </a:p>
        </p:txBody>
      </p:sp>
      <p:sp>
        <p:nvSpPr>
          <p:cNvPr id="12" name="Shape 10"/>
          <p:cNvSpPr/>
          <p:nvPr/>
        </p:nvSpPr>
        <p:spPr>
          <a:xfrm>
            <a:off x="457200" y="2834640"/>
            <a:ext cx="2377440" cy="658368"/>
          </a:xfrm>
          <a:prstGeom prst="rect">
            <a:avLst/>
          </a:prstGeom>
          <a:solidFill>
            <a:srgbClr val="0D2136"/>
          </a:solidFill>
          <a:ln w="6350">
            <a:solidFill>
              <a:srgbClr val="00B4D8"/>
            </a:solidFill>
            <a:prstDash val="solid"/>
          </a:ln>
        </p:spPr>
        <p:txBody>
          <a:bodyPr/>
          <a:lstStyle/>
          <a:p>
            <a:endParaRPr lang="en-US"/>
          </a:p>
        </p:txBody>
      </p:sp>
      <p:sp>
        <p:nvSpPr>
          <p:cNvPr id="13" name="Text 11"/>
          <p:cNvSpPr/>
          <p:nvPr/>
        </p:nvSpPr>
        <p:spPr>
          <a:xfrm>
            <a:off x="502920" y="2852928"/>
            <a:ext cx="2286000" cy="621792"/>
          </a:xfrm>
          <a:prstGeom prst="rect">
            <a:avLst/>
          </a:prstGeom>
          <a:noFill/>
          <a:ln/>
        </p:spPr>
        <p:txBody>
          <a:bodyPr wrap="square" rtlCol="0" anchor="ctr"/>
          <a:lstStyle/>
          <a:p>
            <a:pPr marL="0" indent="0" algn="ctr">
              <a:buNone/>
            </a:pPr>
            <a:r>
              <a:rPr lang="en-US" sz="1100" dirty="0">
                <a:solidFill>
                  <a:srgbClr val="FFFFFF"/>
                </a:solidFill>
              </a:rPr>
              <a:t>HOD Browser</a:t>
            </a:r>
            <a:endParaRPr lang="en-US" sz="1100" dirty="0"/>
          </a:p>
        </p:txBody>
      </p:sp>
      <p:sp>
        <p:nvSpPr>
          <p:cNvPr id="14" name="Shape 12"/>
          <p:cNvSpPr/>
          <p:nvPr/>
        </p:nvSpPr>
        <p:spPr>
          <a:xfrm>
            <a:off x="3246120" y="777240"/>
            <a:ext cx="2743200" cy="4160520"/>
          </a:xfrm>
          <a:prstGeom prst="rect">
            <a:avLst/>
          </a:prstGeom>
          <a:solidFill>
            <a:srgbClr val="132237"/>
          </a:solidFill>
          <a:ln w="19050">
            <a:solidFill>
              <a:srgbClr val="F4A261"/>
            </a:solidFill>
            <a:prstDash val="solid"/>
          </a:ln>
          <a:effectLst>
            <a:outerShdw blurRad="101600" dist="38100" dir="8100000" algn="bl" rotWithShape="0">
              <a:srgbClr val="000000">
                <a:alpha val="25000"/>
              </a:srgbClr>
            </a:outerShdw>
          </a:effectLst>
        </p:spPr>
        <p:txBody>
          <a:bodyPr/>
          <a:lstStyle/>
          <a:p>
            <a:endParaRPr lang="en-US"/>
          </a:p>
        </p:txBody>
      </p:sp>
      <p:sp>
        <p:nvSpPr>
          <p:cNvPr id="15" name="Shape 13"/>
          <p:cNvSpPr/>
          <p:nvPr/>
        </p:nvSpPr>
        <p:spPr>
          <a:xfrm>
            <a:off x="3246120" y="777240"/>
            <a:ext cx="2743200" cy="384048"/>
          </a:xfrm>
          <a:prstGeom prst="rect">
            <a:avLst/>
          </a:prstGeom>
          <a:solidFill>
            <a:srgbClr val="F4A261"/>
          </a:solidFill>
          <a:ln w="12700">
            <a:solidFill>
              <a:srgbClr val="F4A261"/>
            </a:solidFill>
            <a:prstDash val="solid"/>
          </a:ln>
        </p:spPr>
        <p:txBody>
          <a:bodyPr/>
          <a:lstStyle/>
          <a:p>
            <a:endParaRPr lang="en-US"/>
          </a:p>
        </p:txBody>
      </p:sp>
      <p:sp>
        <p:nvSpPr>
          <p:cNvPr id="16" name="Text 14"/>
          <p:cNvSpPr/>
          <p:nvPr/>
        </p:nvSpPr>
        <p:spPr>
          <a:xfrm>
            <a:off x="3246120" y="786384"/>
            <a:ext cx="2743200" cy="365760"/>
          </a:xfrm>
          <a:prstGeom prst="rect">
            <a:avLst/>
          </a:prstGeom>
          <a:noFill/>
          <a:ln/>
        </p:spPr>
        <p:txBody>
          <a:bodyPr wrap="square" lIns="0" tIns="0" rIns="0" bIns="0" rtlCol="0" anchor="ctr"/>
          <a:lstStyle/>
          <a:p>
            <a:pPr marL="0" indent="0" algn="ctr">
              <a:buNone/>
            </a:pPr>
            <a:r>
              <a:rPr lang="en-US" sz="1000" b="1" dirty="0">
                <a:solidFill>
                  <a:srgbClr val="0D1B2A"/>
                </a:solidFill>
              </a:rPr>
              <a:t>APPLICATION TIER</a:t>
            </a:r>
            <a:endParaRPr lang="en-US" sz="1000" dirty="0"/>
          </a:p>
        </p:txBody>
      </p:sp>
      <p:sp>
        <p:nvSpPr>
          <p:cNvPr id="17" name="Shape 15"/>
          <p:cNvSpPr/>
          <p:nvPr/>
        </p:nvSpPr>
        <p:spPr>
          <a:xfrm>
            <a:off x="3429000" y="1298448"/>
            <a:ext cx="2377440" cy="658368"/>
          </a:xfrm>
          <a:prstGeom prst="rect">
            <a:avLst/>
          </a:prstGeom>
          <a:solidFill>
            <a:srgbClr val="0D2136"/>
          </a:solidFill>
          <a:ln w="6350">
            <a:solidFill>
              <a:srgbClr val="F4A261"/>
            </a:solidFill>
            <a:prstDash val="solid"/>
          </a:ln>
        </p:spPr>
        <p:txBody>
          <a:bodyPr/>
          <a:lstStyle/>
          <a:p>
            <a:endParaRPr lang="en-US"/>
          </a:p>
        </p:txBody>
      </p:sp>
      <p:sp>
        <p:nvSpPr>
          <p:cNvPr id="18" name="Text 16"/>
          <p:cNvSpPr/>
          <p:nvPr/>
        </p:nvSpPr>
        <p:spPr>
          <a:xfrm>
            <a:off x="3474720" y="1316736"/>
            <a:ext cx="2286000" cy="621792"/>
          </a:xfrm>
          <a:prstGeom prst="rect">
            <a:avLst/>
          </a:prstGeom>
          <a:noFill/>
          <a:ln/>
        </p:spPr>
        <p:txBody>
          <a:bodyPr wrap="square" rtlCol="0" anchor="ctr"/>
          <a:lstStyle/>
          <a:p>
            <a:pPr marL="0" indent="0" algn="ctr">
              <a:buNone/>
            </a:pPr>
            <a:r>
              <a:rPr lang="en-US" sz="1100" dirty="0">
                <a:solidFill>
                  <a:srgbClr val="FFFFFF"/>
                </a:solidFill>
              </a:rPr>
              <a:t>Africa's Talking API</a:t>
            </a:r>
            <a:endParaRPr lang="en-US" sz="1100" dirty="0"/>
          </a:p>
        </p:txBody>
      </p:sp>
      <p:sp>
        <p:nvSpPr>
          <p:cNvPr id="19" name="Shape 17"/>
          <p:cNvSpPr/>
          <p:nvPr/>
        </p:nvSpPr>
        <p:spPr>
          <a:xfrm>
            <a:off x="3429000" y="2066544"/>
            <a:ext cx="2377440" cy="658368"/>
          </a:xfrm>
          <a:prstGeom prst="rect">
            <a:avLst/>
          </a:prstGeom>
          <a:solidFill>
            <a:srgbClr val="0D2136"/>
          </a:solidFill>
          <a:ln w="6350">
            <a:solidFill>
              <a:srgbClr val="F4A261"/>
            </a:solidFill>
            <a:prstDash val="solid"/>
          </a:ln>
        </p:spPr>
        <p:txBody>
          <a:bodyPr/>
          <a:lstStyle/>
          <a:p>
            <a:endParaRPr lang="en-US"/>
          </a:p>
        </p:txBody>
      </p:sp>
      <p:sp>
        <p:nvSpPr>
          <p:cNvPr id="20" name="Text 18"/>
          <p:cNvSpPr/>
          <p:nvPr/>
        </p:nvSpPr>
        <p:spPr>
          <a:xfrm>
            <a:off x="3474720" y="2084832"/>
            <a:ext cx="2286000" cy="621792"/>
          </a:xfrm>
          <a:prstGeom prst="rect">
            <a:avLst/>
          </a:prstGeom>
          <a:noFill/>
          <a:ln/>
        </p:spPr>
        <p:txBody>
          <a:bodyPr wrap="square" rtlCol="0" anchor="ctr"/>
          <a:lstStyle/>
          <a:p>
            <a:pPr marL="0" indent="0" algn="ctr">
              <a:buNone/>
            </a:pPr>
            <a:r>
              <a:rPr lang="en-US" sz="1100" dirty="0">
                <a:solidFill>
                  <a:srgbClr val="FFFFFF"/>
                </a:solidFill>
              </a:rPr>
              <a:t>Flask/Python Backend</a:t>
            </a:r>
            <a:endParaRPr lang="en-US" sz="1100" dirty="0"/>
          </a:p>
        </p:txBody>
      </p:sp>
      <p:sp>
        <p:nvSpPr>
          <p:cNvPr id="21" name="Shape 19"/>
          <p:cNvSpPr/>
          <p:nvPr/>
        </p:nvSpPr>
        <p:spPr>
          <a:xfrm>
            <a:off x="3429000" y="2834640"/>
            <a:ext cx="2377440" cy="658368"/>
          </a:xfrm>
          <a:prstGeom prst="rect">
            <a:avLst/>
          </a:prstGeom>
          <a:solidFill>
            <a:srgbClr val="0D2136"/>
          </a:solidFill>
          <a:ln w="6350">
            <a:solidFill>
              <a:srgbClr val="F4A261"/>
            </a:solidFill>
            <a:prstDash val="solid"/>
          </a:ln>
        </p:spPr>
        <p:txBody>
          <a:bodyPr/>
          <a:lstStyle/>
          <a:p>
            <a:endParaRPr lang="en-US"/>
          </a:p>
        </p:txBody>
      </p:sp>
      <p:sp>
        <p:nvSpPr>
          <p:cNvPr id="22" name="Text 20"/>
          <p:cNvSpPr/>
          <p:nvPr/>
        </p:nvSpPr>
        <p:spPr>
          <a:xfrm>
            <a:off x="3474720" y="2852928"/>
            <a:ext cx="2286000" cy="621792"/>
          </a:xfrm>
          <a:prstGeom prst="rect">
            <a:avLst/>
          </a:prstGeom>
          <a:noFill/>
          <a:ln/>
        </p:spPr>
        <p:txBody>
          <a:bodyPr wrap="square" rtlCol="0" anchor="ctr"/>
          <a:lstStyle/>
          <a:p>
            <a:pPr marL="0" indent="0" algn="ctr">
              <a:buNone/>
            </a:pPr>
            <a:r>
              <a:rPr lang="en-US" sz="1100" dirty="0">
                <a:solidFill>
                  <a:srgbClr val="FFFFFF"/>
                </a:solidFill>
              </a:rPr>
              <a:t>USSD Session Manager</a:t>
            </a:r>
            <a:endParaRPr lang="en-US" sz="1100" dirty="0"/>
          </a:p>
        </p:txBody>
      </p:sp>
      <p:sp>
        <p:nvSpPr>
          <p:cNvPr id="23" name="Shape 21"/>
          <p:cNvSpPr/>
          <p:nvPr/>
        </p:nvSpPr>
        <p:spPr>
          <a:xfrm>
            <a:off x="3429000" y="3602736"/>
            <a:ext cx="2377440" cy="658368"/>
          </a:xfrm>
          <a:prstGeom prst="rect">
            <a:avLst/>
          </a:prstGeom>
          <a:solidFill>
            <a:srgbClr val="0D2136"/>
          </a:solidFill>
          <a:ln w="6350">
            <a:solidFill>
              <a:srgbClr val="F4A261"/>
            </a:solidFill>
            <a:prstDash val="solid"/>
          </a:ln>
        </p:spPr>
        <p:txBody>
          <a:bodyPr/>
          <a:lstStyle/>
          <a:p>
            <a:endParaRPr lang="en-US"/>
          </a:p>
        </p:txBody>
      </p:sp>
      <p:sp>
        <p:nvSpPr>
          <p:cNvPr id="24" name="Text 22"/>
          <p:cNvSpPr/>
          <p:nvPr/>
        </p:nvSpPr>
        <p:spPr>
          <a:xfrm>
            <a:off x="3474720" y="3621024"/>
            <a:ext cx="2286000" cy="621792"/>
          </a:xfrm>
          <a:prstGeom prst="rect">
            <a:avLst/>
          </a:prstGeom>
          <a:noFill/>
          <a:ln/>
        </p:spPr>
        <p:txBody>
          <a:bodyPr wrap="square" rtlCol="0" anchor="ctr"/>
          <a:lstStyle/>
          <a:p>
            <a:pPr marL="0" indent="0" algn="ctr">
              <a:buNone/>
            </a:pPr>
            <a:r>
              <a:rPr lang="en-US" sz="1100" dirty="0">
                <a:solidFill>
                  <a:srgbClr val="FFFFFF"/>
                </a:solidFill>
              </a:rPr>
              <a:t>Auth &amp; PIN Module</a:t>
            </a:r>
            <a:endParaRPr lang="en-US" sz="1100" dirty="0"/>
          </a:p>
        </p:txBody>
      </p:sp>
      <p:sp>
        <p:nvSpPr>
          <p:cNvPr id="25" name="Shape 23"/>
          <p:cNvSpPr/>
          <p:nvPr/>
        </p:nvSpPr>
        <p:spPr>
          <a:xfrm>
            <a:off x="3429000" y="4297680"/>
            <a:ext cx="2377440" cy="658368"/>
          </a:xfrm>
          <a:prstGeom prst="rect">
            <a:avLst/>
          </a:prstGeom>
          <a:solidFill>
            <a:srgbClr val="0D2136"/>
          </a:solidFill>
          <a:ln w="6350">
            <a:solidFill>
              <a:srgbClr val="F4A261"/>
            </a:solidFill>
            <a:prstDash val="solid"/>
          </a:ln>
        </p:spPr>
        <p:txBody>
          <a:bodyPr/>
          <a:lstStyle/>
          <a:p>
            <a:endParaRPr lang="en-US"/>
          </a:p>
        </p:txBody>
      </p:sp>
      <p:sp>
        <p:nvSpPr>
          <p:cNvPr id="26" name="Text 24"/>
          <p:cNvSpPr/>
          <p:nvPr/>
        </p:nvSpPr>
        <p:spPr>
          <a:xfrm>
            <a:off x="3474720" y="4389120"/>
            <a:ext cx="2286000" cy="621792"/>
          </a:xfrm>
          <a:prstGeom prst="rect">
            <a:avLst/>
          </a:prstGeom>
          <a:noFill/>
          <a:ln/>
        </p:spPr>
        <p:txBody>
          <a:bodyPr wrap="square" rtlCol="0" anchor="ctr"/>
          <a:lstStyle/>
          <a:p>
            <a:pPr marL="0" indent="0" algn="ctr">
              <a:buNone/>
            </a:pPr>
            <a:r>
              <a:rPr lang="en-US" sz="1100" dirty="0">
                <a:solidFill>
                  <a:srgbClr val="FFFFFF"/>
                </a:solidFill>
              </a:rPr>
              <a:t>HOD / Admin Routes</a:t>
            </a:r>
            <a:endParaRPr lang="en-US" sz="1100" dirty="0"/>
          </a:p>
        </p:txBody>
      </p:sp>
      <p:sp>
        <p:nvSpPr>
          <p:cNvPr id="27" name="Shape 25"/>
          <p:cNvSpPr/>
          <p:nvPr/>
        </p:nvSpPr>
        <p:spPr>
          <a:xfrm>
            <a:off x="6217920" y="777240"/>
            <a:ext cx="2743200" cy="4160520"/>
          </a:xfrm>
          <a:prstGeom prst="rect">
            <a:avLst/>
          </a:prstGeom>
          <a:solidFill>
            <a:srgbClr val="132237"/>
          </a:solidFill>
          <a:ln w="19050">
            <a:solidFill>
              <a:srgbClr val="06D6A0"/>
            </a:solidFill>
            <a:prstDash val="solid"/>
          </a:ln>
          <a:effectLst>
            <a:outerShdw blurRad="101600" dist="38100" dir="8100000" algn="bl" rotWithShape="0">
              <a:srgbClr val="000000">
                <a:alpha val="25000"/>
              </a:srgbClr>
            </a:outerShdw>
          </a:effectLst>
        </p:spPr>
        <p:txBody>
          <a:bodyPr/>
          <a:lstStyle/>
          <a:p>
            <a:endParaRPr lang="en-US"/>
          </a:p>
        </p:txBody>
      </p:sp>
      <p:sp>
        <p:nvSpPr>
          <p:cNvPr id="28" name="Shape 26"/>
          <p:cNvSpPr/>
          <p:nvPr/>
        </p:nvSpPr>
        <p:spPr>
          <a:xfrm>
            <a:off x="6217920" y="777240"/>
            <a:ext cx="2743200" cy="384048"/>
          </a:xfrm>
          <a:prstGeom prst="rect">
            <a:avLst/>
          </a:prstGeom>
          <a:solidFill>
            <a:srgbClr val="06D6A0"/>
          </a:solidFill>
          <a:ln w="12700">
            <a:solidFill>
              <a:srgbClr val="06D6A0"/>
            </a:solidFill>
            <a:prstDash val="solid"/>
          </a:ln>
        </p:spPr>
        <p:txBody>
          <a:bodyPr/>
          <a:lstStyle/>
          <a:p>
            <a:endParaRPr lang="en-US"/>
          </a:p>
        </p:txBody>
      </p:sp>
      <p:sp>
        <p:nvSpPr>
          <p:cNvPr id="29" name="Text 27"/>
          <p:cNvSpPr/>
          <p:nvPr/>
        </p:nvSpPr>
        <p:spPr>
          <a:xfrm>
            <a:off x="6217920" y="786384"/>
            <a:ext cx="2743200" cy="365760"/>
          </a:xfrm>
          <a:prstGeom prst="rect">
            <a:avLst/>
          </a:prstGeom>
          <a:noFill/>
          <a:ln/>
        </p:spPr>
        <p:txBody>
          <a:bodyPr wrap="square" lIns="0" tIns="0" rIns="0" bIns="0" rtlCol="0" anchor="ctr"/>
          <a:lstStyle/>
          <a:p>
            <a:pPr marL="0" indent="0" algn="ctr">
              <a:buNone/>
            </a:pPr>
            <a:r>
              <a:rPr lang="en-US" sz="1000" b="1" dirty="0">
                <a:solidFill>
                  <a:srgbClr val="0D1B2A"/>
                </a:solidFill>
              </a:rPr>
              <a:t>DATA TIER</a:t>
            </a:r>
            <a:endParaRPr lang="en-US" sz="1000" dirty="0"/>
          </a:p>
        </p:txBody>
      </p:sp>
      <p:sp>
        <p:nvSpPr>
          <p:cNvPr id="30" name="Shape 28"/>
          <p:cNvSpPr/>
          <p:nvPr/>
        </p:nvSpPr>
        <p:spPr>
          <a:xfrm>
            <a:off x="6400800" y="1298448"/>
            <a:ext cx="2377440" cy="658368"/>
          </a:xfrm>
          <a:prstGeom prst="rect">
            <a:avLst/>
          </a:prstGeom>
          <a:solidFill>
            <a:srgbClr val="0D2136"/>
          </a:solidFill>
          <a:ln w="6350">
            <a:solidFill>
              <a:srgbClr val="06D6A0"/>
            </a:solidFill>
            <a:prstDash val="solid"/>
          </a:ln>
        </p:spPr>
        <p:txBody>
          <a:bodyPr/>
          <a:lstStyle/>
          <a:p>
            <a:endParaRPr lang="en-US"/>
          </a:p>
        </p:txBody>
      </p:sp>
      <p:sp>
        <p:nvSpPr>
          <p:cNvPr id="31" name="Text 29"/>
          <p:cNvSpPr/>
          <p:nvPr/>
        </p:nvSpPr>
        <p:spPr>
          <a:xfrm>
            <a:off x="6446520" y="1316736"/>
            <a:ext cx="2286000" cy="621792"/>
          </a:xfrm>
          <a:prstGeom prst="rect">
            <a:avLst/>
          </a:prstGeom>
          <a:noFill/>
          <a:ln/>
        </p:spPr>
        <p:txBody>
          <a:bodyPr wrap="square" rtlCol="0" anchor="ctr"/>
          <a:lstStyle/>
          <a:p>
            <a:pPr marL="0" indent="0" algn="ctr">
              <a:buNone/>
            </a:pPr>
            <a:r>
              <a:rPr lang="en-US" sz="1100" dirty="0">
                <a:solidFill>
                  <a:srgbClr val="FFFFFF"/>
                </a:solidFill>
              </a:rPr>
              <a:t>MySQL Database</a:t>
            </a:r>
            <a:endParaRPr lang="en-US" sz="1100" dirty="0"/>
          </a:p>
        </p:txBody>
      </p:sp>
      <p:sp>
        <p:nvSpPr>
          <p:cNvPr id="32" name="Shape 30"/>
          <p:cNvSpPr/>
          <p:nvPr/>
        </p:nvSpPr>
        <p:spPr>
          <a:xfrm>
            <a:off x="6400800" y="2066544"/>
            <a:ext cx="2377440" cy="658368"/>
          </a:xfrm>
          <a:prstGeom prst="rect">
            <a:avLst/>
          </a:prstGeom>
          <a:solidFill>
            <a:srgbClr val="0D2136"/>
          </a:solidFill>
          <a:ln w="6350">
            <a:solidFill>
              <a:srgbClr val="06D6A0"/>
            </a:solidFill>
            <a:prstDash val="solid"/>
          </a:ln>
        </p:spPr>
        <p:txBody>
          <a:bodyPr/>
          <a:lstStyle/>
          <a:p>
            <a:endParaRPr lang="en-US"/>
          </a:p>
        </p:txBody>
      </p:sp>
      <p:sp>
        <p:nvSpPr>
          <p:cNvPr id="33" name="Text 31"/>
          <p:cNvSpPr/>
          <p:nvPr/>
        </p:nvSpPr>
        <p:spPr>
          <a:xfrm>
            <a:off x="6446520" y="2084832"/>
            <a:ext cx="2286000" cy="621792"/>
          </a:xfrm>
          <a:prstGeom prst="rect">
            <a:avLst/>
          </a:prstGeom>
          <a:noFill/>
          <a:ln/>
        </p:spPr>
        <p:txBody>
          <a:bodyPr wrap="square" rtlCol="0" anchor="ctr"/>
          <a:lstStyle/>
          <a:p>
            <a:pPr marL="0" indent="0" algn="ctr">
              <a:buNone/>
            </a:pPr>
            <a:r>
              <a:rPr lang="en-US" sz="1100" dirty="0">
                <a:solidFill>
                  <a:srgbClr val="FFFFFF"/>
                </a:solidFill>
              </a:rPr>
              <a:t>7 Tables</a:t>
            </a:r>
            <a:endParaRPr lang="en-US" sz="1100" dirty="0"/>
          </a:p>
        </p:txBody>
      </p:sp>
      <p:sp>
        <p:nvSpPr>
          <p:cNvPr id="34" name="Shape 32"/>
          <p:cNvSpPr/>
          <p:nvPr/>
        </p:nvSpPr>
        <p:spPr>
          <a:xfrm>
            <a:off x="6400800" y="2834640"/>
            <a:ext cx="2377440" cy="658368"/>
          </a:xfrm>
          <a:prstGeom prst="rect">
            <a:avLst/>
          </a:prstGeom>
          <a:solidFill>
            <a:srgbClr val="0D2136"/>
          </a:solidFill>
          <a:ln w="6350">
            <a:solidFill>
              <a:srgbClr val="06D6A0"/>
            </a:solidFill>
            <a:prstDash val="solid"/>
          </a:ln>
        </p:spPr>
        <p:txBody>
          <a:bodyPr/>
          <a:lstStyle/>
          <a:p>
            <a:endParaRPr lang="en-US"/>
          </a:p>
        </p:txBody>
      </p:sp>
      <p:sp>
        <p:nvSpPr>
          <p:cNvPr id="35" name="Text 33"/>
          <p:cNvSpPr/>
          <p:nvPr/>
        </p:nvSpPr>
        <p:spPr>
          <a:xfrm>
            <a:off x="6446520" y="2852928"/>
            <a:ext cx="2286000" cy="621792"/>
          </a:xfrm>
          <a:prstGeom prst="rect">
            <a:avLst/>
          </a:prstGeom>
          <a:noFill/>
          <a:ln/>
        </p:spPr>
        <p:txBody>
          <a:bodyPr wrap="square" rtlCol="0" anchor="ctr"/>
          <a:lstStyle/>
          <a:p>
            <a:pPr marL="0" indent="0" algn="ctr">
              <a:buNone/>
            </a:pPr>
            <a:r>
              <a:rPr lang="en-US" sz="1100" dirty="0">
                <a:solidFill>
                  <a:srgbClr val="FFFFFF"/>
                </a:solidFill>
              </a:rPr>
              <a:t>Africa's Talking SMS</a:t>
            </a:r>
            <a:endParaRPr lang="en-US" sz="1100" dirty="0"/>
          </a:p>
          <a:p>
            <a:pPr marL="0" indent="0" algn="ctr">
              <a:buNone/>
            </a:pPr>
            <a:r>
              <a:rPr lang="en-US" sz="1100" dirty="0">
                <a:solidFill>
                  <a:srgbClr val="FFFFFF"/>
                </a:solidFill>
              </a:rPr>
              <a:t>(OTP delivery)</a:t>
            </a:r>
            <a:endParaRPr lang="en-US" sz="1100" dirty="0"/>
          </a:p>
        </p:txBody>
      </p:sp>
      <p:sp>
        <p:nvSpPr>
          <p:cNvPr id="36" name="Text 34"/>
          <p:cNvSpPr/>
          <p:nvPr/>
        </p:nvSpPr>
        <p:spPr>
          <a:xfrm>
            <a:off x="2971800" y="2743200"/>
            <a:ext cx="274320" cy="274320"/>
          </a:xfrm>
          <a:prstGeom prst="rect">
            <a:avLst/>
          </a:prstGeom>
          <a:noFill/>
          <a:ln/>
        </p:spPr>
        <p:txBody>
          <a:bodyPr wrap="square" rtlCol="0" anchor="ctr"/>
          <a:lstStyle/>
          <a:p>
            <a:pPr marL="0" indent="0" algn="ctr">
              <a:buNone/>
            </a:pPr>
            <a:r>
              <a:rPr lang="en-US" sz="1400" dirty="0">
                <a:solidFill>
                  <a:srgbClr val="00B4D8"/>
                </a:solidFill>
              </a:rPr>
              <a:t>&lt;&gt;</a:t>
            </a:r>
            <a:endParaRPr lang="en-US" sz="1400" dirty="0"/>
          </a:p>
        </p:txBody>
      </p:sp>
      <p:sp>
        <p:nvSpPr>
          <p:cNvPr id="37" name="Text 35"/>
          <p:cNvSpPr/>
          <p:nvPr/>
        </p:nvSpPr>
        <p:spPr>
          <a:xfrm>
            <a:off x="5943600" y="2743200"/>
            <a:ext cx="274320" cy="274320"/>
          </a:xfrm>
          <a:prstGeom prst="rect">
            <a:avLst/>
          </a:prstGeom>
          <a:noFill/>
          <a:ln/>
        </p:spPr>
        <p:txBody>
          <a:bodyPr wrap="square" rtlCol="0" anchor="ctr"/>
          <a:lstStyle/>
          <a:p>
            <a:pPr marL="0" indent="0" algn="ctr">
              <a:buNone/>
            </a:pPr>
            <a:r>
              <a:rPr lang="en-US" sz="1400" dirty="0">
                <a:solidFill>
                  <a:srgbClr val="00B4D8"/>
                </a:solidFill>
              </a:rPr>
              <a:t>&lt;&gt;</a:t>
            </a:r>
            <a:endParaRPr lang="en-US" sz="1400" dirty="0"/>
          </a:p>
        </p:txBody>
      </p:sp>
      <p:sp>
        <p:nvSpPr>
          <p:cNvPr id="38" name="Shape 36"/>
          <p:cNvSpPr/>
          <p:nvPr/>
        </p:nvSpPr>
        <p:spPr>
          <a:xfrm>
            <a:off x="274320" y="4754880"/>
            <a:ext cx="8595360" cy="329184"/>
          </a:xfrm>
          <a:prstGeom prst="rect">
            <a:avLst/>
          </a:prstGeom>
          <a:solidFill>
            <a:srgbClr val="071426"/>
          </a:solidFill>
          <a:ln w="12700">
            <a:solidFill>
              <a:srgbClr val="071426"/>
            </a:solidFill>
            <a:prstDash val="solid"/>
          </a:ln>
        </p:spPr>
        <p:txBody>
          <a:bodyPr/>
          <a:lstStyle/>
          <a:p>
            <a:endParaRPr lang="en-US"/>
          </a:p>
        </p:txBody>
      </p:sp>
      <p:sp>
        <p:nvSpPr>
          <p:cNvPr id="39" name="Text 37"/>
          <p:cNvSpPr/>
          <p:nvPr/>
        </p:nvSpPr>
        <p:spPr>
          <a:xfrm>
            <a:off x="365760" y="4864608"/>
            <a:ext cx="8412480" cy="219456"/>
          </a:xfrm>
          <a:prstGeom prst="rect">
            <a:avLst/>
          </a:prstGeom>
          <a:noFill/>
          <a:ln/>
        </p:spPr>
        <p:txBody>
          <a:bodyPr wrap="square" rtlCol="0" anchor="ctr"/>
          <a:lstStyle/>
          <a:p>
            <a:pPr marL="0" indent="0" algn="ctr">
              <a:buNone/>
            </a:pPr>
            <a:r>
              <a:rPr lang="en-US" sz="900" dirty="0">
                <a:solidFill>
                  <a:srgbClr val="8DADC4"/>
                </a:solidFill>
              </a:rPr>
              <a:t>Tech Stack: Python  Flask  MySQL  Africa's Talking USSD/SMS API  Bootstrap 5  SHA-256  HTML/CSS/Jinja2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1300" dirty="0">
                <a:solidFill>
                  <a:srgbClr val="8DADC4"/>
                </a:solidFill>
              </a:rPr>
              <a:t>13 / 15</a:t>
            </a:r>
            <a:endParaRPr lang="en-US" sz="1300" dirty="0"/>
          </a:p>
        </p:txBody>
      </p:sp>
      <p:sp>
        <p:nvSpPr>
          <p:cNvPr id="3" name="Text 1"/>
          <p:cNvSpPr/>
          <p:nvPr/>
        </p:nvSpPr>
        <p:spPr>
          <a:xfrm>
            <a:off x="457200" y="164592"/>
            <a:ext cx="8229600" cy="411480"/>
          </a:xfrm>
          <a:prstGeom prst="rect">
            <a:avLst/>
          </a:prstGeom>
          <a:noFill/>
          <a:ln/>
        </p:spPr>
        <p:txBody>
          <a:bodyPr wrap="square" rtlCol="0" anchor="ctr"/>
          <a:lstStyle/>
          <a:p>
            <a:pPr marL="0" indent="0">
              <a:buNone/>
            </a:pPr>
            <a:r>
              <a:rPr lang="en-US" sz="2400" b="1" dirty="0">
                <a:solidFill>
                  <a:srgbClr val="FFFFFF"/>
                </a:solidFill>
              </a:rPr>
              <a:t>Budget &amp; Project Timeline</a:t>
            </a:r>
            <a:endParaRPr lang="en-US" sz="2400" dirty="0"/>
          </a:p>
        </p:txBody>
      </p:sp>
      <p:sp>
        <p:nvSpPr>
          <p:cNvPr id="4" name="Shape 2"/>
          <p:cNvSpPr/>
          <p:nvPr/>
        </p:nvSpPr>
        <p:spPr>
          <a:xfrm>
            <a:off x="457200" y="612648"/>
            <a:ext cx="1463040" cy="36576"/>
          </a:xfrm>
          <a:prstGeom prst="rect">
            <a:avLst/>
          </a:prstGeom>
          <a:solidFill>
            <a:srgbClr val="00B4D8"/>
          </a:solidFill>
          <a:ln w="12700">
            <a:solidFill>
              <a:srgbClr val="00B4D8"/>
            </a:solidFill>
            <a:prstDash val="solid"/>
          </a:ln>
        </p:spPr>
        <p:txBody>
          <a:bodyPr/>
          <a:lstStyle/>
          <a:p>
            <a:endParaRPr lang="en-US" sz="1300"/>
          </a:p>
        </p:txBody>
      </p:sp>
      <p:sp>
        <p:nvSpPr>
          <p:cNvPr id="5" name="Text 3"/>
          <p:cNvSpPr/>
          <p:nvPr/>
        </p:nvSpPr>
        <p:spPr>
          <a:xfrm>
            <a:off x="274320" y="749808"/>
            <a:ext cx="4114800" cy="256032"/>
          </a:xfrm>
          <a:prstGeom prst="rect">
            <a:avLst/>
          </a:prstGeom>
          <a:noFill/>
          <a:ln/>
        </p:spPr>
        <p:txBody>
          <a:bodyPr wrap="square" rtlCol="0" anchor="ctr"/>
          <a:lstStyle/>
          <a:p>
            <a:pPr marL="0" indent="0">
              <a:buNone/>
            </a:pPr>
            <a:r>
              <a:rPr lang="en-US" sz="1300" b="1" kern="0" spc="100" dirty="0">
                <a:solidFill>
                  <a:srgbClr val="F4A261"/>
                </a:solidFill>
              </a:rPr>
              <a:t>ESTIMATED BUDGET (RWF)</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146028660"/>
              </p:ext>
            </p:extLst>
          </p:nvPr>
        </p:nvGraphicFramePr>
        <p:xfrm>
          <a:off x="274320" y="1060704"/>
          <a:ext cx="4114800"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38912">
                <a:tc>
                  <a:txBody>
                    <a:bodyPr/>
                    <a:lstStyle/>
                    <a:p>
                      <a:pPr marL="0" indent="0">
                        <a:buNone/>
                      </a:pPr>
                      <a:r>
                        <a:rPr lang="en-US" sz="1300" b="1" dirty="0">
                          <a:solidFill>
                            <a:srgbClr val="00B4D8"/>
                          </a:solidFill>
                          <a:latin typeface="Tahoma" panose="020B0604030504040204" pitchFamily="34" charset="0"/>
                          <a:ea typeface="Tahoma" panose="020B0604030504040204" pitchFamily="34" charset="0"/>
                          <a:cs typeface="Tahoma" panose="020B0604030504040204" pitchFamily="34" charset="0"/>
                        </a:rPr>
                        <a:t>Item</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b="1" dirty="0">
                          <a:solidFill>
                            <a:srgbClr val="00B4D8"/>
                          </a:solidFill>
                          <a:latin typeface="Tahoma" panose="020B0604030504040204" pitchFamily="34" charset="0"/>
                          <a:ea typeface="Tahoma" panose="020B0604030504040204" pitchFamily="34" charset="0"/>
                          <a:cs typeface="Tahoma" panose="020B0604030504040204" pitchFamily="34" charset="0"/>
                        </a:rPr>
                        <a:t>Cost (RWF)</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Internet &amp; Data (18 weeks)</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45,000</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Africa's Talking SMS Credits</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20,000</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Stationery &amp; Printing</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15,000</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3"/>
                  </a:ext>
                </a:extLst>
              </a:tr>
              <a:tr h="438912">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Transport (data collection)</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30,000</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4"/>
                  </a:ext>
                </a:extLst>
              </a:tr>
              <a:tr h="438912">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Miscellaneous</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dirty="0">
                          <a:solidFill>
                            <a:srgbClr val="F0F4F8"/>
                          </a:solidFill>
                          <a:latin typeface="Tahoma" panose="020B0604030504040204" pitchFamily="34" charset="0"/>
                          <a:ea typeface="Tahoma" panose="020B0604030504040204" pitchFamily="34" charset="0"/>
                          <a:cs typeface="Tahoma" panose="020B0604030504040204" pitchFamily="34" charset="0"/>
                        </a:rPr>
                        <a:t>10,000</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5"/>
                  </a:ext>
                </a:extLst>
              </a:tr>
              <a:tr h="438912">
                <a:tc>
                  <a:txBody>
                    <a:bodyP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TOTAL</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tc>
                  <a:txBody>
                    <a:bodyPr/>
                    <a:lstStyle/>
                    <a:p>
                      <a:pPr marL="0" indent="0">
                        <a:buNone/>
                      </a:pPr>
                      <a:r>
                        <a:rPr lang="en-US" sz="1300" b="1" dirty="0">
                          <a:solidFill>
                            <a:srgbClr val="F4A261"/>
                          </a:solidFill>
                          <a:latin typeface="Tahoma" panose="020B0604030504040204" pitchFamily="34" charset="0"/>
                          <a:ea typeface="Tahoma" panose="020B0604030504040204" pitchFamily="34" charset="0"/>
                          <a:cs typeface="Tahoma" panose="020B0604030504040204" pitchFamily="34" charset="0"/>
                        </a:rPr>
                        <a:t>120,000</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a:lnL w="6350" cap="flat" cmpd="sng" algn="ctr">
                      <a:solidFill>
                        <a:srgbClr val="2A4B6B"/>
                      </a:solidFill>
                      <a:prstDash val="solid"/>
                      <a:round/>
                      <a:headEnd type="none" w="med" len="med"/>
                      <a:tailEnd type="none" w="med" len="med"/>
                    </a:lnL>
                    <a:lnR w="6350" cap="flat" cmpd="sng" algn="ctr">
                      <a:solidFill>
                        <a:srgbClr val="2A4B6B"/>
                      </a:solidFill>
                      <a:prstDash val="solid"/>
                      <a:round/>
                      <a:headEnd type="none" w="med" len="med"/>
                      <a:tailEnd type="none" w="med" len="med"/>
                    </a:lnR>
                    <a:lnT w="6350" cap="flat" cmpd="sng" algn="ctr">
                      <a:solidFill>
                        <a:srgbClr val="2A4B6B"/>
                      </a:solidFill>
                      <a:prstDash val="solid"/>
                      <a:round/>
                      <a:headEnd type="none" w="med" len="med"/>
                      <a:tailEnd type="none" w="med" len="med"/>
                    </a:lnT>
                    <a:lnB w="6350" cap="flat" cmpd="sng" algn="ctr">
                      <a:solidFill>
                        <a:srgbClr val="2A4B6B"/>
                      </a:solidFill>
                      <a:prstDash val="solid"/>
                      <a:round/>
                      <a:headEnd type="none" w="med" len="med"/>
                      <a:tailEnd type="none" w="med" len="med"/>
                    </a:lnB>
                    <a:solidFill>
                      <a:srgbClr val="132237"/>
                    </a:solidFill>
                  </a:tcPr>
                </a:tc>
                <a:extLst>
                  <a:ext uri="{0D108BD9-81ED-4DB2-BD59-A6C34878D82A}">
                    <a16:rowId xmlns:a16="http://schemas.microsoft.com/office/drawing/2014/main" val="10006"/>
                  </a:ext>
                </a:extLst>
              </a:tr>
            </a:tbl>
          </a:graphicData>
        </a:graphic>
      </p:graphicFrame>
      <p:sp>
        <p:nvSpPr>
          <p:cNvPr id="7" name="Text 4"/>
          <p:cNvSpPr/>
          <p:nvPr/>
        </p:nvSpPr>
        <p:spPr>
          <a:xfrm>
            <a:off x="5052060" y="605028"/>
            <a:ext cx="4206240" cy="256032"/>
          </a:xfrm>
          <a:prstGeom prst="rect">
            <a:avLst/>
          </a:prstGeom>
          <a:noFill/>
          <a:ln/>
        </p:spPr>
        <p:txBody>
          <a:bodyPr wrap="square" rtlCol="0" anchor="ctr"/>
          <a:lstStyle/>
          <a:p>
            <a:pPr marL="0" indent="0">
              <a:buNone/>
            </a:pPr>
            <a:r>
              <a:rPr lang="en-US" sz="1300" b="1" kern="0" spc="100" dirty="0">
                <a:solidFill>
                  <a:srgbClr val="00B4D8"/>
                </a:solidFill>
              </a:rPr>
              <a:t>18-WEEK SPRINT PLAN</a:t>
            </a:r>
            <a:endParaRPr lang="en-US" sz="1300" dirty="0"/>
          </a:p>
        </p:txBody>
      </p:sp>
      <p:sp>
        <p:nvSpPr>
          <p:cNvPr id="8" name="Shape 5"/>
          <p:cNvSpPr/>
          <p:nvPr/>
        </p:nvSpPr>
        <p:spPr>
          <a:xfrm>
            <a:off x="4663440" y="1060704"/>
            <a:ext cx="4206240" cy="548640"/>
          </a:xfrm>
          <a:prstGeom prst="rect">
            <a:avLst/>
          </a:prstGeom>
          <a:solidFill>
            <a:srgbClr val="132237"/>
          </a:solidFill>
          <a:ln w="12700">
            <a:solidFill>
              <a:srgbClr val="2A4B6B"/>
            </a:solidFill>
            <a:prstDash val="solid"/>
          </a:ln>
        </p:spPr>
        <p:txBody>
          <a:bodyPr/>
          <a:lstStyle/>
          <a:p>
            <a:endParaRPr lang="en-US" sz="1300"/>
          </a:p>
        </p:txBody>
      </p:sp>
      <p:sp>
        <p:nvSpPr>
          <p:cNvPr id="9" name="Shape 6"/>
          <p:cNvSpPr/>
          <p:nvPr/>
        </p:nvSpPr>
        <p:spPr>
          <a:xfrm>
            <a:off x="4663440" y="1060704"/>
            <a:ext cx="1463040" cy="548640"/>
          </a:xfrm>
          <a:prstGeom prst="rect">
            <a:avLst/>
          </a:prstGeom>
          <a:solidFill>
            <a:srgbClr val="00B4D8">
              <a:alpha val="50000"/>
            </a:srgbClr>
          </a:solidFill>
          <a:ln w="12700">
            <a:solidFill>
              <a:srgbClr val="00B4D8"/>
            </a:solidFill>
            <a:prstDash val="solid"/>
          </a:ln>
        </p:spPr>
        <p:txBody>
          <a:bodyPr/>
          <a:lstStyle/>
          <a:p>
            <a:endParaRPr lang="en-US" sz="1300"/>
          </a:p>
        </p:txBody>
      </p:sp>
      <p:sp>
        <p:nvSpPr>
          <p:cNvPr id="10" name="Text 7"/>
          <p:cNvSpPr/>
          <p:nvPr/>
        </p:nvSpPr>
        <p:spPr>
          <a:xfrm>
            <a:off x="4709160" y="1097280"/>
            <a:ext cx="1097280" cy="237744"/>
          </a:xfrm>
          <a:prstGeom prst="rect">
            <a:avLst/>
          </a:prstGeom>
          <a:noFill/>
          <a:ln/>
        </p:spPr>
        <p:txBody>
          <a:bodyPr wrap="square" rtlCol="0" anchor="ctr"/>
          <a:lstStyle/>
          <a:p>
            <a:pPr marL="0" indent="0">
              <a:buNone/>
            </a:pPr>
            <a:r>
              <a:rPr lang="en-US" sz="1100" b="1" dirty="0">
                <a:solidFill>
                  <a:srgbClr val="00B4D8"/>
                </a:solidFill>
              </a:rPr>
              <a:t>Sprint 1-2</a:t>
            </a:r>
            <a:endParaRPr lang="en-US" sz="1100" dirty="0"/>
          </a:p>
        </p:txBody>
      </p:sp>
      <p:sp>
        <p:nvSpPr>
          <p:cNvPr id="11" name="Text 8"/>
          <p:cNvSpPr/>
          <p:nvPr/>
        </p:nvSpPr>
        <p:spPr>
          <a:xfrm>
            <a:off x="4709160" y="1335024"/>
            <a:ext cx="1097280" cy="201168"/>
          </a:xfrm>
          <a:prstGeom prst="rect">
            <a:avLst/>
          </a:prstGeom>
          <a:noFill/>
          <a:ln/>
        </p:spPr>
        <p:txBody>
          <a:bodyPr wrap="square" rtlCol="0" anchor="ctr"/>
          <a:lstStyle/>
          <a:p>
            <a:pPr marL="0" indent="0">
              <a:buNone/>
            </a:pPr>
            <a:r>
              <a:rPr lang="en-US" sz="1100" dirty="0">
                <a:solidFill>
                  <a:srgbClr val="8DADC4"/>
                </a:solidFill>
              </a:rPr>
              <a:t>Wk 1-3</a:t>
            </a:r>
            <a:endParaRPr lang="en-US" sz="1100" dirty="0"/>
          </a:p>
        </p:txBody>
      </p:sp>
      <p:sp>
        <p:nvSpPr>
          <p:cNvPr id="12" name="Text 9"/>
          <p:cNvSpPr/>
          <p:nvPr/>
        </p:nvSpPr>
        <p:spPr>
          <a:xfrm>
            <a:off x="6103620" y="1127760"/>
            <a:ext cx="2926080" cy="384048"/>
          </a:xfrm>
          <a:prstGeom prst="rect">
            <a:avLst/>
          </a:prstGeom>
          <a:noFill/>
          <a:ln/>
        </p:spPr>
        <p:txBody>
          <a:bodyPr wrap="square" rtlCol="0" anchor="ctr"/>
          <a:lstStyle/>
          <a:p>
            <a:pPr marL="0" indent="0">
              <a:buNone/>
            </a:pPr>
            <a:r>
              <a:rPr lang="en-US" sz="1300" dirty="0">
                <a:solidFill>
                  <a:srgbClr val="FFFFFF"/>
                </a:solidFill>
              </a:rPr>
              <a:t>Requirements analysis &amp; system design</a:t>
            </a:r>
            <a:endParaRPr lang="en-US" sz="1300" dirty="0"/>
          </a:p>
        </p:txBody>
      </p:sp>
      <p:sp>
        <p:nvSpPr>
          <p:cNvPr id="13" name="Shape 10"/>
          <p:cNvSpPr/>
          <p:nvPr/>
        </p:nvSpPr>
        <p:spPr>
          <a:xfrm>
            <a:off x="4663440" y="1719072"/>
            <a:ext cx="4206240" cy="548640"/>
          </a:xfrm>
          <a:prstGeom prst="rect">
            <a:avLst/>
          </a:prstGeom>
          <a:solidFill>
            <a:srgbClr val="132237"/>
          </a:solidFill>
          <a:ln w="12700">
            <a:solidFill>
              <a:srgbClr val="2A4B6B"/>
            </a:solidFill>
            <a:prstDash val="solid"/>
          </a:ln>
        </p:spPr>
        <p:txBody>
          <a:bodyPr/>
          <a:lstStyle/>
          <a:p>
            <a:endParaRPr lang="en-US" sz="1300"/>
          </a:p>
        </p:txBody>
      </p:sp>
      <p:sp>
        <p:nvSpPr>
          <p:cNvPr id="6" name="Shape 11"/>
          <p:cNvSpPr/>
          <p:nvPr/>
        </p:nvSpPr>
        <p:spPr>
          <a:xfrm>
            <a:off x="4663440" y="1719072"/>
            <a:ext cx="1645920" cy="548640"/>
          </a:xfrm>
          <a:prstGeom prst="rect">
            <a:avLst/>
          </a:prstGeom>
          <a:solidFill>
            <a:srgbClr val="00B4D8">
              <a:alpha val="50000"/>
            </a:srgbClr>
          </a:solidFill>
          <a:ln w="12700">
            <a:solidFill>
              <a:srgbClr val="00B4D8"/>
            </a:solidFill>
            <a:prstDash val="solid"/>
          </a:ln>
        </p:spPr>
        <p:txBody>
          <a:bodyPr/>
          <a:lstStyle/>
          <a:p>
            <a:endParaRPr lang="en-US" sz="1300"/>
          </a:p>
        </p:txBody>
      </p:sp>
      <p:sp>
        <p:nvSpPr>
          <p:cNvPr id="15" name="Text 12"/>
          <p:cNvSpPr/>
          <p:nvPr/>
        </p:nvSpPr>
        <p:spPr>
          <a:xfrm>
            <a:off x="4709160" y="1755648"/>
            <a:ext cx="1097280" cy="237744"/>
          </a:xfrm>
          <a:prstGeom prst="rect">
            <a:avLst/>
          </a:prstGeom>
          <a:noFill/>
          <a:ln/>
        </p:spPr>
        <p:txBody>
          <a:bodyPr wrap="square" rtlCol="0" anchor="ctr"/>
          <a:lstStyle/>
          <a:p>
            <a:pPr marL="0" indent="0">
              <a:buNone/>
            </a:pPr>
            <a:r>
              <a:rPr lang="en-US" sz="1100" b="1" dirty="0">
                <a:solidFill>
                  <a:srgbClr val="00B4D8"/>
                </a:solidFill>
              </a:rPr>
              <a:t>Sprint 3</a:t>
            </a:r>
            <a:endParaRPr lang="en-US" sz="1100" dirty="0"/>
          </a:p>
        </p:txBody>
      </p:sp>
      <p:sp>
        <p:nvSpPr>
          <p:cNvPr id="16" name="Text 13"/>
          <p:cNvSpPr/>
          <p:nvPr/>
        </p:nvSpPr>
        <p:spPr>
          <a:xfrm>
            <a:off x="4709160" y="1993392"/>
            <a:ext cx="1097280" cy="201168"/>
          </a:xfrm>
          <a:prstGeom prst="rect">
            <a:avLst/>
          </a:prstGeom>
          <a:noFill/>
          <a:ln/>
        </p:spPr>
        <p:txBody>
          <a:bodyPr wrap="square" rtlCol="0" anchor="ctr"/>
          <a:lstStyle/>
          <a:p>
            <a:pPr marL="0" indent="0">
              <a:buNone/>
            </a:pPr>
            <a:r>
              <a:rPr lang="en-US" sz="1100" dirty="0">
                <a:solidFill>
                  <a:srgbClr val="8DADC4"/>
                </a:solidFill>
              </a:rPr>
              <a:t>Wk 4-6</a:t>
            </a:r>
            <a:endParaRPr lang="en-US" sz="1100" dirty="0"/>
          </a:p>
        </p:txBody>
      </p:sp>
      <p:sp>
        <p:nvSpPr>
          <p:cNvPr id="17" name="Text 14"/>
          <p:cNvSpPr/>
          <p:nvPr/>
        </p:nvSpPr>
        <p:spPr>
          <a:xfrm>
            <a:off x="6332220" y="1776984"/>
            <a:ext cx="2926080" cy="384048"/>
          </a:xfrm>
          <a:prstGeom prst="rect">
            <a:avLst/>
          </a:prstGeom>
          <a:noFill/>
          <a:ln/>
        </p:spPr>
        <p:txBody>
          <a:bodyPr wrap="square" rtlCol="0" anchor="ctr"/>
          <a:lstStyle/>
          <a:p>
            <a:pPr marL="0" indent="0">
              <a:buNone/>
            </a:pPr>
            <a:r>
              <a:rPr lang="en-US" sz="1300" dirty="0">
                <a:solidFill>
                  <a:srgbClr val="FFFFFF"/>
                </a:solidFill>
              </a:rPr>
              <a:t>Database schema &amp; PIN module development</a:t>
            </a:r>
            <a:endParaRPr lang="en-US" sz="1300" dirty="0"/>
          </a:p>
        </p:txBody>
      </p:sp>
      <p:sp>
        <p:nvSpPr>
          <p:cNvPr id="18" name="Shape 15"/>
          <p:cNvSpPr/>
          <p:nvPr/>
        </p:nvSpPr>
        <p:spPr>
          <a:xfrm>
            <a:off x="4663440" y="2377440"/>
            <a:ext cx="4206240" cy="548640"/>
          </a:xfrm>
          <a:prstGeom prst="rect">
            <a:avLst/>
          </a:prstGeom>
          <a:solidFill>
            <a:srgbClr val="132237"/>
          </a:solidFill>
          <a:ln w="12700">
            <a:solidFill>
              <a:srgbClr val="2A4B6B"/>
            </a:solidFill>
            <a:prstDash val="solid"/>
          </a:ln>
        </p:spPr>
        <p:txBody>
          <a:bodyPr/>
          <a:lstStyle/>
          <a:p>
            <a:endParaRPr lang="en-US" sz="1300"/>
          </a:p>
        </p:txBody>
      </p:sp>
      <p:sp>
        <p:nvSpPr>
          <p:cNvPr id="19" name="Shape 16"/>
          <p:cNvSpPr/>
          <p:nvPr/>
        </p:nvSpPr>
        <p:spPr>
          <a:xfrm>
            <a:off x="4663440" y="2377440"/>
            <a:ext cx="1828800" cy="548640"/>
          </a:xfrm>
          <a:prstGeom prst="rect">
            <a:avLst/>
          </a:prstGeom>
          <a:solidFill>
            <a:srgbClr val="00B4D8">
              <a:alpha val="50000"/>
            </a:srgbClr>
          </a:solidFill>
          <a:ln w="12700">
            <a:solidFill>
              <a:srgbClr val="00B4D8"/>
            </a:solidFill>
            <a:prstDash val="solid"/>
          </a:ln>
        </p:spPr>
        <p:txBody>
          <a:bodyPr/>
          <a:lstStyle/>
          <a:p>
            <a:endParaRPr lang="en-US" sz="1300"/>
          </a:p>
        </p:txBody>
      </p:sp>
      <p:sp>
        <p:nvSpPr>
          <p:cNvPr id="20" name="Text 17"/>
          <p:cNvSpPr/>
          <p:nvPr/>
        </p:nvSpPr>
        <p:spPr>
          <a:xfrm>
            <a:off x="4709160" y="2414016"/>
            <a:ext cx="1097280" cy="237744"/>
          </a:xfrm>
          <a:prstGeom prst="rect">
            <a:avLst/>
          </a:prstGeom>
          <a:noFill/>
          <a:ln/>
        </p:spPr>
        <p:txBody>
          <a:bodyPr wrap="square" rtlCol="0" anchor="ctr"/>
          <a:lstStyle/>
          <a:p>
            <a:pPr marL="0" indent="0">
              <a:buNone/>
            </a:pPr>
            <a:r>
              <a:rPr lang="en-US" sz="1100" b="1" dirty="0">
                <a:solidFill>
                  <a:srgbClr val="00B4D8"/>
                </a:solidFill>
              </a:rPr>
              <a:t>Sprint 4</a:t>
            </a:r>
            <a:endParaRPr lang="en-US" sz="1100" dirty="0"/>
          </a:p>
        </p:txBody>
      </p:sp>
      <p:sp>
        <p:nvSpPr>
          <p:cNvPr id="21" name="Text 18"/>
          <p:cNvSpPr/>
          <p:nvPr/>
        </p:nvSpPr>
        <p:spPr>
          <a:xfrm>
            <a:off x="4709160" y="2651760"/>
            <a:ext cx="1097280" cy="201168"/>
          </a:xfrm>
          <a:prstGeom prst="rect">
            <a:avLst/>
          </a:prstGeom>
          <a:noFill/>
          <a:ln/>
        </p:spPr>
        <p:txBody>
          <a:bodyPr wrap="square" rtlCol="0" anchor="ctr"/>
          <a:lstStyle/>
          <a:p>
            <a:pPr marL="0" indent="0">
              <a:buNone/>
            </a:pPr>
            <a:r>
              <a:rPr lang="en-US" sz="1100" dirty="0">
                <a:solidFill>
                  <a:srgbClr val="8DADC4"/>
                </a:solidFill>
              </a:rPr>
              <a:t>Wk 7-9</a:t>
            </a:r>
            <a:endParaRPr lang="en-US" sz="1100" dirty="0"/>
          </a:p>
        </p:txBody>
      </p:sp>
      <p:sp>
        <p:nvSpPr>
          <p:cNvPr id="22" name="Text 19"/>
          <p:cNvSpPr/>
          <p:nvPr/>
        </p:nvSpPr>
        <p:spPr>
          <a:xfrm>
            <a:off x="6507480" y="2450592"/>
            <a:ext cx="2926080" cy="384048"/>
          </a:xfrm>
          <a:prstGeom prst="rect">
            <a:avLst/>
          </a:prstGeom>
          <a:noFill/>
          <a:ln/>
        </p:spPr>
        <p:txBody>
          <a:bodyPr wrap="square" rtlCol="0" anchor="ctr"/>
          <a:lstStyle/>
          <a:p>
            <a:pPr marL="0" indent="0">
              <a:buNone/>
            </a:pPr>
            <a:r>
              <a:rPr lang="en-US" sz="1300" dirty="0">
                <a:solidFill>
                  <a:srgbClr val="FFFFFF"/>
                </a:solidFill>
              </a:rPr>
              <a:t>USSD flow &amp; Africa's Talking integration</a:t>
            </a:r>
            <a:endParaRPr lang="en-US" sz="1300" dirty="0"/>
          </a:p>
        </p:txBody>
      </p:sp>
      <p:sp>
        <p:nvSpPr>
          <p:cNvPr id="23" name="Shape 20"/>
          <p:cNvSpPr/>
          <p:nvPr/>
        </p:nvSpPr>
        <p:spPr>
          <a:xfrm>
            <a:off x="4663440" y="3035808"/>
            <a:ext cx="4206240" cy="548640"/>
          </a:xfrm>
          <a:prstGeom prst="rect">
            <a:avLst/>
          </a:prstGeom>
          <a:solidFill>
            <a:srgbClr val="132237"/>
          </a:solidFill>
          <a:ln w="12700">
            <a:solidFill>
              <a:srgbClr val="2A4B6B"/>
            </a:solidFill>
            <a:prstDash val="solid"/>
          </a:ln>
        </p:spPr>
        <p:txBody>
          <a:bodyPr/>
          <a:lstStyle/>
          <a:p>
            <a:endParaRPr lang="en-US" sz="1300"/>
          </a:p>
        </p:txBody>
      </p:sp>
      <p:sp>
        <p:nvSpPr>
          <p:cNvPr id="24" name="Shape 21"/>
          <p:cNvSpPr/>
          <p:nvPr/>
        </p:nvSpPr>
        <p:spPr>
          <a:xfrm>
            <a:off x="4663440" y="3035808"/>
            <a:ext cx="2011680" cy="548640"/>
          </a:xfrm>
          <a:prstGeom prst="rect">
            <a:avLst/>
          </a:prstGeom>
          <a:solidFill>
            <a:srgbClr val="00B4D8">
              <a:alpha val="50000"/>
            </a:srgbClr>
          </a:solidFill>
          <a:ln w="12700">
            <a:solidFill>
              <a:srgbClr val="00B4D8"/>
            </a:solidFill>
            <a:prstDash val="solid"/>
          </a:ln>
        </p:spPr>
        <p:txBody>
          <a:bodyPr/>
          <a:lstStyle/>
          <a:p>
            <a:endParaRPr lang="en-US" sz="1300"/>
          </a:p>
        </p:txBody>
      </p:sp>
      <p:sp>
        <p:nvSpPr>
          <p:cNvPr id="25" name="Text 22"/>
          <p:cNvSpPr/>
          <p:nvPr/>
        </p:nvSpPr>
        <p:spPr>
          <a:xfrm>
            <a:off x="4709160" y="3072384"/>
            <a:ext cx="1097280" cy="237744"/>
          </a:xfrm>
          <a:prstGeom prst="rect">
            <a:avLst/>
          </a:prstGeom>
          <a:noFill/>
          <a:ln/>
        </p:spPr>
        <p:txBody>
          <a:bodyPr wrap="square" rtlCol="0" anchor="ctr"/>
          <a:lstStyle/>
          <a:p>
            <a:pPr marL="0" indent="0">
              <a:buNone/>
            </a:pPr>
            <a:r>
              <a:rPr lang="en-US" sz="1100" b="1" dirty="0">
                <a:solidFill>
                  <a:srgbClr val="00B4D8"/>
                </a:solidFill>
              </a:rPr>
              <a:t>Sprint 5</a:t>
            </a:r>
            <a:endParaRPr lang="en-US" sz="1100" dirty="0"/>
          </a:p>
        </p:txBody>
      </p:sp>
      <p:sp>
        <p:nvSpPr>
          <p:cNvPr id="26" name="Text 23"/>
          <p:cNvSpPr/>
          <p:nvPr/>
        </p:nvSpPr>
        <p:spPr>
          <a:xfrm>
            <a:off x="4709160" y="3310128"/>
            <a:ext cx="1097280" cy="201168"/>
          </a:xfrm>
          <a:prstGeom prst="rect">
            <a:avLst/>
          </a:prstGeom>
          <a:noFill/>
          <a:ln/>
        </p:spPr>
        <p:txBody>
          <a:bodyPr wrap="square" rtlCol="0" anchor="ctr"/>
          <a:lstStyle/>
          <a:p>
            <a:pPr marL="0" indent="0">
              <a:buNone/>
            </a:pPr>
            <a:r>
              <a:rPr lang="en-US" sz="1100" dirty="0">
                <a:solidFill>
                  <a:srgbClr val="8DADC4"/>
                </a:solidFill>
              </a:rPr>
              <a:t>Wk 10-13</a:t>
            </a:r>
            <a:endParaRPr lang="en-US" sz="1100" dirty="0"/>
          </a:p>
        </p:txBody>
      </p:sp>
      <p:sp>
        <p:nvSpPr>
          <p:cNvPr id="27" name="Text 24"/>
          <p:cNvSpPr/>
          <p:nvPr/>
        </p:nvSpPr>
        <p:spPr>
          <a:xfrm>
            <a:off x="6705600" y="3093720"/>
            <a:ext cx="2926080" cy="384048"/>
          </a:xfrm>
          <a:prstGeom prst="rect">
            <a:avLst/>
          </a:prstGeom>
          <a:noFill/>
          <a:ln/>
        </p:spPr>
        <p:txBody>
          <a:bodyPr wrap="square" rtlCol="0" anchor="ctr"/>
          <a:lstStyle/>
          <a:p>
            <a:pPr marL="0" indent="0">
              <a:buNone/>
            </a:pPr>
            <a:r>
              <a:rPr lang="en-US" sz="1300" dirty="0">
                <a:solidFill>
                  <a:srgbClr val="FFFFFF"/>
                </a:solidFill>
              </a:rPr>
              <a:t>Admin+HOD portal &amp; data collection/surveys</a:t>
            </a:r>
            <a:endParaRPr lang="en-US" sz="1300" dirty="0"/>
          </a:p>
        </p:txBody>
      </p:sp>
      <p:sp>
        <p:nvSpPr>
          <p:cNvPr id="28" name="Shape 25"/>
          <p:cNvSpPr/>
          <p:nvPr/>
        </p:nvSpPr>
        <p:spPr>
          <a:xfrm>
            <a:off x="4663440" y="3694176"/>
            <a:ext cx="4206240" cy="548640"/>
          </a:xfrm>
          <a:prstGeom prst="rect">
            <a:avLst/>
          </a:prstGeom>
          <a:solidFill>
            <a:srgbClr val="132237"/>
          </a:solidFill>
          <a:ln w="12700">
            <a:solidFill>
              <a:srgbClr val="2A4B6B"/>
            </a:solidFill>
            <a:prstDash val="solid"/>
          </a:ln>
        </p:spPr>
        <p:txBody>
          <a:bodyPr/>
          <a:lstStyle/>
          <a:p>
            <a:endParaRPr lang="en-US" sz="1300"/>
          </a:p>
        </p:txBody>
      </p:sp>
      <p:sp>
        <p:nvSpPr>
          <p:cNvPr id="29" name="Shape 26"/>
          <p:cNvSpPr/>
          <p:nvPr/>
        </p:nvSpPr>
        <p:spPr>
          <a:xfrm>
            <a:off x="4663440" y="3685032"/>
            <a:ext cx="2194560" cy="548640"/>
          </a:xfrm>
          <a:prstGeom prst="rect">
            <a:avLst/>
          </a:prstGeom>
          <a:solidFill>
            <a:srgbClr val="00B4D8">
              <a:alpha val="50000"/>
            </a:srgbClr>
          </a:solidFill>
          <a:ln w="12700">
            <a:solidFill>
              <a:srgbClr val="00B4D8"/>
            </a:solidFill>
            <a:prstDash val="solid"/>
          </a:ln>
        </p:spPr>
        <p:txBody>
          <a:bodyPr/>
          <a:lstStyle/>
          <a:p>
            <a:endParaRPr lang="en-US" sz="1300"/>
          </a:p>
        </p:txBody>
      </p:sp>
      <p:sp>
        <p:nvSpPr>
          <p:cNvPr id="30" name="Text 27"/>
          <p:cNvSpPr/>
          <p:nvPr/>
        </p:nvSpPr>
        <p:spPr>
          <a:xfrm>
            <a:off x="4709160" y="3730752"/>
            <a:ext cx="1097280" cy="237744"/>
          </a:xfrm>
          <a:prstGeom prst="rect">
            <a:avLst/>
          </a:prstGeom>
          <a:noFill/>
          <a:ln/>
        </p:spPr>
        <p:txBody>
          <a:bodyPr wrap="square" rtlCol="0" anchor="ctr"/>
          <a:lstStyle/>
          <a:p>
            <a:pPr marL="0" indent="0">
              <a:buNone/>
            </a:pPr>
            <a:r>
              <a:rPr lang="en-US" sz="1300" b="1" dirty="0">
                <a:solidFill>
                  <a:srgbClr val="00B4D8"/>
                </a:solidFill>
              </a:rPr>
              <a:t>Sprint 6</a:t>
            </a:r>
            <a:endParaRPr lang="en-US" sz="1300" dirty="0"/>
          </a:p>
        </p:txBody>
      </p:sp>
      <p:sp>
        <p:nvSpPr>
          <p:cNvPr id="31" name="Text 28"/>
          <p:cNvSpPr/>
          <p:nvPr/>
        </p:nvSpPr>
        <p:spPr>
          <a:xfrm>
            <a:off x="4709160" y="3968496"/>
            <a:ext cx="1097280" cy="201168"/>
          </a:xfrm>
          <a:prstGeom prst="rect">
            <a:avLst/>
          </a:prstGeom>
          <a:noFill/>
          <a:ln/>
        </p:spPr>
        <p:txBody>
          <a:bodyPr wrap="square" rtlCol="0" anchor="ctr"/>
          <a:lstStyle/>
          <a:p>
            <a:pPr marL="0" indent="0">
              <a:buNone/>
            </a:pPr>
            <a:r>
              <a:rPr lang="en-US" sz="1100" dirty="0">
                <a:solidFill>
                  <a:srgbClr val="8DADC4"/>
                </a:solidFill>
              </a:rPr>
              <a:t>Wk 14-17</a:t>
            </a:r>
            <a:endParaRPr lang="en-US" sz="1100" dirty="0"/>
          </a:p>
        </p:txBody>
      </p:sp>
      <p:sp>
        <p:nvSpPr>
          <p:cNvPr id="32" name="Text 29"/>
          <p:cNvSpPr/>
          <p:nvPr/>
        </p:nvSpPr>
        <p:spPr>
          <a:xfrm>
            <a:off x="6789420" y="3741420"/>
            <a:ext cx="2125980" cy="384048"/>
          </a:xfrm>
          <a:prstGeom prst="rect">
            <a:avLst/>
          </a:prstGeom>
          <a:noFill/>
          <a:ln/>
        </p:spPr>
        <p:txBody>
          <a:bodyPr wrap="square" rtlCol="0" anchor="ctr"/>
          <a:lstStyle/>
          <a:p>
            <a:pPr marL="0" indent="0">
              <a:buNone/>
            </a:pPr>
            <a:r>
              <a:rPr lang="en-US" sz="1300" dirty="0">
                <a:solidFill>
                  <a:srgbClr val="FFFFFF"/>
                </a:solidFill>
              </a:rPr>
              <a:t>Testing, evaluation &amp; report writing</a:t>
            </a:r>
            <a:endParaRPr lang="en-US" sz="1300" dirty="0"/>
          </a:p>
        </p:txBody>
      </p:sp>
      <p:sp>
        <p:nvSpPr>
          <p:cNvPr id="33" name="Shape 30"/>
          <p:cNvSpPr/>
          <p:nvPr/>
        </p:nvSpPr>
        <p:spPr>
          <a:xfrm>
            <a:off x="4663440" y="4352544"/>
            <a:ext cx="4206240" cy="548640"/>
          </a:xfrm>
          <a:prstGeom prst="rect">
            <a:avLst/>
          </a:prstGeom>
          <a:solidFill>
            <a:srgbClr val="132237"/>
          </a:solidFill>
          <a:ln w="12700">
            <a:solidFill>
              <a:srgbClr val="2A4B6B"/>
            </a:solidFill>
            <a:prstDash val="solid"/>
          </a:ln>
        </p:spPr>
        <p:txBody>
          <a:bodyPr/>
          <a:lstStyle/>
          <a:p>
            <a:endParaRPr lang="en-US" sz="1300"/>
          </a:p>
        </p:txBody>
      </p:sp>
      <p:sp>
        <p:nvSpPr>
          <p:cNvPr id="34" name="Shape 31"/>
          <p:cNvSpPr/>
          <p:nvPr/>
        </p:nvSpPr>
        <p:spPr>
          <a:xfrm>
            <a:off x="4693920" y="4361688"/>
            <a:ext cx="2377440" cy="548640"/>
          </a:xfrm>
          <a:prstGeom prst="rect">
            <a:avLst/>
          </a:prstGeom>
          <a:solidFill>
            <a:srgbClr val="00B4D8">
              <a:alpha val="50000"/>
            </a:srgbClr>
          </a:solidFill>
          <a:ln w="12700">
            <a:solidFill>
              <a:srgbClr val="00B4D8"/>
            </a:solidFill>
            <a:prstDash val="solid"/>
          </a:ln>
        </p:spPr>
        <p:txBody>
          <a:bodyPr/>
          <a:lstStyle/>
          <a:p>
            <a:endParaRPr lang="en-US" sz="1100"/>
          </a:p>
        </p:txBody>
      </p:sp>
      <p:sp>
        <p:nvSpPr>
          <p:cNvPr id="35" name="Text 32"/>
          <p:cNvSpPr/>
          <p:nvPr/>
        </p:nvSpPr>
        <p:spPr>
          <a:xfrm>
            <a:off x="4709160" y="4389120"/>
            <a:ext cx="1097280" cy="237744"/>
          </a:xfrm>
          <a:prstGeom prst="rect">
            <a:avLst/>
          </a:prstGeom>
          <a:noFill/>
          <a:ln/>
        </p:spPr>
        <p:txBody>
          <a:bodyPr wrap="square" rtlCol="0" anchor="ctr"/>
          <a:lstStyle/>
          <a:p>
            <a:pPr marL="0" indent="0">
              <a:buNone/>
            </a:pPr>
            <a:r>
              <a:rPr lang="en-US" sz="1100" b="1" dirty="0">
                <a:solidFill>
                  <a:srgbClr val="00B4D8"/>
                </a:solidFill>
              </a:rPr>
              <a:t>Final</a:t>
            </a:r>
            <a:endParaRPr lang="en-US" sz="1100" dirty="0"/>
          </a:p>
        </p:txBody>
      </p:sp>
      <p:sp>
        <p:nvSpPr>
          <p:cNvPr id="36" name="Text 33"/>
          <p:cNvSpPr/>
          <p:nvPr/>
        </p:nvSpPr>
        <p:spPr>
          <a:xfrm>
            <a:off x="4709160" y="4626864"/>
            <a:ext cx="1097280" cy="201168"/>
          </a:xfrm>
          <a:prstGeom prst="rect">
            <a:avLst/>
          </a:prstGeom>
          <a:noFill/>
          <a:ln/>
        </p:spPr>
        <p:txBody>
          <a:bodyPr wrap="square" rtlCol="0" anchor="ctr"/>
          <a:lstStyle/>
          <a:p>
            <a:pPr marL="0" indent="0">
              <a:buNone/>
            </a:pPr>
            <a:r>
              <a:rPr lang="en-US" sz="1300" dirty="0">
                <a:solidFill>
                  <a:srgbClr val="8DADC4"/>
                </a:solidFill>
              </a:rPr>
              <a:t>Wk 18</a:t>
            </a:r>
            <a:endParaRPr lang="en-US" sz="1300" dirty="0"/>
          </a:p>
        </p:txBody>
      </p:sp>
      <p:sp>
        <p:nvSpPr>
          <p:cNvPr id="37" name="Text 34"/>
          <p:cNvSpPr/>
          <p:nvPr/>
        </p:nvSpPr>
        <p:spPr>
          <a:xfrm>
            <a:off x="7246620" y="4434840"/>
            <a:ext cx="2011680" cy="384048"/>
          </a:xfrm>
          <a:prstGeom prst="rect">
            <a:avLst/>
          </a:prstGeom>
          <a:noFill/>
          <a:ln/>
        </p:spPr>
        <p:txBody>
          <a:bodyPr wrap="square" rtlCol="0" anchor="ctr"/>
          <a:lstStyle/>
          <a:p>
            <a:pPr marL="0" indent="0">
              <a:buNone/>
            </a:pPr>
            <a:r>
              <a:rPr lang="en-US" sz="1300" dirty="0">
                <a:solidFill>
                  <a:srgbClr val="FFFFFF"/>
                </a:solidFill>
              </a:rPr>
              <a:t>Pre-defense presentation &amp; submission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8046720" y="4892040"/>
            <a:ext cx="914400" cy="182880"/>
          </a:xfrm>
          <a:prstGeom prst="rect">
            <a:avLst/>
          </a:prstGeom>
          <a:noFill/>
          <a:ln/>
        </p:spPr>
        <p:txBody>
          <a:bodyPr wrap="square" rtlCol="0" anchor="ctr"/>
          <a:lstStyle/>
          <a:p>
            <a:pPr marL="0" indent="0" algn="r">
              <a:buNone/>
            </a:pPr>
            <a:r>
              <a:rPr lang="en-US" sz="1400" dirty="0">
                <a:solidFill>
                  <a:srgbClr val="8DADC4"/>
                </a:solidFill>
                <a:latin typeface="Tahoma" panose="020B0604030504040204" pitchFamily="34" charset="0"/>
                <a:ea typeface="Tahoma" panose="020B0604030504040204" pitchFamily="34" charset="0"/>
                <a:cs typeface="Tahoma" panose="020B0604030504040204" pitchFamily="34" charset="0"/>
              </a:rPr>
              <a:t>14 / 15</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198120" y="57188"/>
            <a:ext cx="8229600" cy="411480"/>
          </a:xfrm>
          <a:prstGeom prst="rect">
            <a:avLst/>
          </a:prstGeom>
          <a:noFill/>
          <a:ln/>
        </p:spPr>
        <p:txBody>
          <a:bodyPr wrap="square" rtlCol="0" anchor="ctr"/>
          <a:lstStyle/>
          <a:p>
            <a:pPr marL="0" indent="0">
              <a:buNone/>
            </a:pPr>
            <a:r>
              <a:rPr lang="en-US" sz="2400" b="1" dirty="0">
                <a:solidFill>
                  <a:srgbClr val="FFFFFF"/>
                </a:solidFill>
                <a:latin typeface="Tahoma" panose="020B0604030504040204" pitchFamily="34" charset="0"/>
                <a:ea typeface="Tahoma" panose="020B0604030504040204" pitchFamily="34" charset="0"/>
                <a:cs typeface="Tahoma" panose="020B0604030504040204" pitchFamily="34" charset="0"/>
              </a:rPr>
              <a:t>Expected Outcomes</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327660" y="453394"/>
            <a:ext cx="1828800" cy="36576"/>
          </a:xfrm>
          <a:prstGeom prst="rect">
            <a:avLst/>
          </a:prstGeom>
          <a:solidFill>
            <a:srgbClr val="00B4D8"/>
          </a:solidFill>
          <a:ln w="12700">
            <a:solidFill>
              <a:srgbClr val="00B4D8"/>
            </a:solidFill>
            <a:prstDash val="solid"/>
          </a:ln>
        </p:spPr>
        <p:txBody>
          <a:bodyPr/>
          <a:lstStyle/>
          <a:p>
            <a:endParaRPr lang="en-US" sz="1400">
              <a:latin typeface="Tahoma" panose="020B0604030504040204" pitchFamily="34" charset="0"/>
              <a:ea typeface="Tahoma" panose="020B0604030504040204" pitchFamily="34" charset="0"/>
              <a:cs typeface="Tahoma" panose="020B0604030504040204" pitchFamily="34" charset="0"/>
            </a:endParaRPr>
          </a:p>
        </p:txBody>
      </p:sp>
      <p:sp>
        <p:nvSpPr>
          <p:cNvPr id="5" name="Text 3"/>
          <p:cNvSpPr/>
          <p:nvPr/>
        </p:nvSpPr>
        <p:spPr>
          <a:xfrm>
            <a:off x="274320" y="749808"/>
            <a:ext cx="4206240" cy="256032"/>
          </a:xfrm>
          <a:prstGeom prst="rect">
            <a:avLst/>
          </a:prstGeom>
          <a:noFill/>
          <a:ln/>
        </p:spPr>
        <p:txBody>
          <a:bodyPr wrap="square" rtlCol="0" anchor="ctr"/>
          <a:lstStyle/>
          <a:p>
            <a:pPr marL="0" indent="0">
              <a:buNone/>
            </a:pP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30" name="Text 28"/>
          <p:cNvSpPr/>
          <p:nvPr/>
        </p:nvSpPr>
        <p:spPr>
          <a:xfrm>
            <a:off x="4800600" y="4325112"/>
            <a:ext cx="3840480" cy="438912"/>
          </a:xfrm>
          <a:prstGeom prst="rect">
            <a:avLst/>
          </a:prstGeom>
          <a:noFill/>
          <a:ln/>
        </p:spPr>
        <p:txBody>
          <a:bodyPr wrap="square" rtlCol="0" anchor="ctr"/>
          <a:lstStyle/>
          <a:p>
            <a:pPr marL="0" indent="0">
              <a:buNone/>
            </a:pP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31" name="Shape 29"/>
          <p:cNvSpPr/>
          <p:nvPr/>
        </p:nvSpPr>
        <p:spPr>
          <a:xfrm>
            <a:off x="274320" y="4663440"/>
            <a:ext cx="8595360" cy="347472"/>
          </a:xfrm>
          <a:prstGeom prst="rect">
            <a:avLst/>
          </a:prstGeom>
          <a:solidFill>
            <a:srgbClr val="132237"/>
          </a:solidFill>
          <a:ln w="12700">
            <a:solidFill>
              <a:srgbClr val="8DADC4"/>
            </a:solidFill>
            <a:prstDash val="solid"/>
          </a:ln>
          <a:effectLst>
            <a:outerShdw blurRad="101600" dist="38100" dir="8100000" algn="bl" rotWithShape="0">
              <a:srgbClr val="000000">
                <a:alpha val="25000"/>
              </a:srgbClr>
            </a:outerShdw>
          </a:effectLst>
        </p:spPr>
        <p:txBody>
          <a:bodyPr/>
          <a:lstStyle/>
          <a:p>
            <a:endParaRPr lang="en-US" sz="1400">
              <a:latin typeface="Tahoma" panose="020B0604030504040204" pitchFamily="34" charset="0"/>
              <a:ea typeface="Tahoma" panose="020B0604030504040204" pitchFamily="34" charset="0"/>
              <a:cs typeface="Tahoma" panose="020B0604030504040204" pitchFamily="34" charset="0"/>
            </a:endParaRPr>
          </a:p>
        </p:txBody>
      </p:sp>
      <p:sp>
        <p:nvSpPr>
          <p:cNvPr id="32" name="Text 30"/>
          <p:cNvSpPr/>
          <p:nvPr/>
        </p:nvSpPr>
        <p:spPr>
          <a:xfrm>
            <a:off x="457200" y="4745736"/>
            <a:ext cx="8229600" cy="228600"/>
          </a:xfrm>
          <a:prstGeom prst="rect">
            <a:avLst/>
          </a:prstGeom>
          <a:noFill/>
          <a:ln/>
        </p:spPr>
        <p:txBody>
          <a:bodyPr wrap="square" rtlCol="0" anchor="ctr"/>
          <a:lstStyle/>
          <a:p>
            <a:pPr marL="0" indent="0">
              <a:buNone/>
            </a:pPr>
            <a:r>
              <a:rPr lang="en-US" sz="1100" b="1" dirty="0">
                <a:solidFill>
                  <a:srgbClr val="EF476F"/>
                </a:solidFill>
                <a:latin typeface="Tahoma" panose="020B0604030504040204" pitchFamily="34" charset="0"/>
                <a:ea typeface="Tahoma" panose="020B0604030504040204" pitchFamily="34" charset="0"/>
                <a:cs typeface="Tahoma" panose="020B0604030504040204" pitchFamily="34" charset="0"/>
              </a:rPr>
              <a:t>Out of scope: </a:t>
            </a:r>
            <a:r>
              <a:rPr lang="en-US" sz="1100" dirty="0">
                <a:solidFill>
                  <a:srgbClr val="8DADC4"/>
                </a:solidFill>
                <a:latin typeface="Tahoma" panose="020B0604030504040204" pitchFamily="34" charset="0"/>
                <a:ea typeface="Tahoma" panose="020B0604030504040204" pitchFamily="34" charset="0"/>
                <a:cs typeface="Tahoma" panose="020B0604030504040204" pitchFamily="34" charset="0"/>
              </a:rPr>
              <a:t>payment processing, biometric auth, live SIS integration, native mobile app reserved for future work.</a:t>
            </a:r>
            <a:endParaRPr lang="en-US" sz="1100" dirty="0">
              <a:latin typeface="Tahoma" panose="020B0604030504040204" pitchFamily="34" charset="0"/>
              <a:ea typeface="Tahoma" panose="020B0604030504040204" pitchFamily="34" charset="0"/>
              <a:cs typeface="Tahoma" panose="020B0604030504040204" pitchFamily="34" charset="0"/>
            </a:endParaRPr>
          </a:p>
        </p:txBody>
      </p:sp>
      <p:sp>
        <p:nvSpPr>
          <p:cNvPr id="34" name="TextBox 33">
            <a:extLst>
              <a:ext uri="{FF2B5EF4-FFF2-40B4-BE49-F238E27FC236}">
                <a16:creationId xmlns:a16="http://schemas.microsoft.com/office/drawing/2014/main" id="{DB3F5E32-28DC-D2BE-CD7F-7A89954D98C6}"/>
              </a:ext>
            </a:extLst>
          </p:cNvPr>
          <p:cNvSpPr txBox="1"/>
          <p:nvPr/>
        </p:nvSpPr>
        <p:spPr>
          <a:xfrm>
            <a:off x="121920" y="579811"/>
            <a:ext cx="7680960" cy="3970318"/>
          </a:xfrm>
          <a:prstGeom prst="rect">
            <a:avLst/>
          </a:prstGeom>
          <a:noFill/>
        </p:spPr>
        <p:txBody>
          <a:bodyPr wrap="square">
            <a:spAutoFit/>
          </a:bodyPr>
          <a:lstStyle/>
          <a:p>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By the end of this research, the following will be achieved:</a:t>
            </a:r>
          </a:p>
          <a:p>
            <a:pPr marL="342900" indent="-342900">
              <a:buFont typeface="+mj-lt"/>
              <a:buAutoNum type="arabicPeriod"/>
            </a:pPr>
            <a:endParaRPr lang="en-US" sz="1400" dirty="0">
              <a:solidFill>
                <a:schemeClr val="bg2"/>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A working system</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:students can appeal marks, track progress, and get decisions from any cell phone, no internet needed</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Secure login</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:every student protected by a personal PIN, locked after 3 wrong attempts, reset by SMS code</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Admin dashboard</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:administrators and HODs manage all appeals in one place, in real time</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Faster process</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:appeal resolution time reduced by up to 60% compared to the current manual system</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Full records</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:every appeal, every decision, and every login automatically saved and traceable</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Happy students</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:students always know the status of their appeal, no more waiting or office visits</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A model for others</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:the system can be copied and used by other universities in Rwanda and East Africa</a:t>
            </a:r>
          </a:p>
          <a:p>
            <a:pPr marL="342900" indent="-342900">
              <a:buFont typeface="+mj-lt"/>
              <a:buAutoNum type="arabicPeriod"/>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New knowledge</a:t>
            </a:r>
            <a:r>
              <a:rPr lang="en-US" sz="1400" dirty="0">
                <a:solidFill>
                  <a:schemeClr val="bg2"/>
                </a:solidFill>
                <a:latin typeface="Tahoma" panose="020B0604030504040204" pitchFamily="34" charset="0"/>
                <a:ea typeface="Tahoma" panose="020B0604030504040204" pitchFamily="34" charset="0"/>
                <a:cs typeface="Tahoma" panose="020B0604030504040204" pitchFamily="34" charset="0"/>
              </a:rPr>
              <a:t> :original research contribution combining USSD and PIN security in academic appeals, never done before at ULK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457200" y="164592"/>
            <a:ext cx="8229600" cy="411480"/>
          </a:xfrm>
          <a:prstGeom prst="rect">
            <a:avLst/>
          </a:prstGeom>
          <a:noFill/>
          <a:ln/>
        </p:spPr>
        <p:txBody>
          <a:bodyPr wrap="square" rtlCol="0" anchor="ctr"/>
          <a:lstStyle/>
          <a:p>
            <a:pPr marL="0" indent="0">
              <a:buNone/>
            </a:pPr>
            <a:r>
              <a:rPr lang="en-US" sz="2400" b="1" dirty="0">
                <a:solidFill>
                  <a:srgbClr val="FFFFFF"/>
                </a:solidFill>
                <a:latin typeface="Tahoma" panose="020B0604030504040204" pitchFamily="34" charset="0"/>
                <a:ea typeface="Tahoma" panose="020B0604030504040204" pitchFamily="34" charset="0"/>
                <a:cs typeface="Tahoma" panose="020B0604030504040204" pitchFamily="34" charset="0"/>
              </a:rPr>
              <a:t>Summaries</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Shape 2"/>
          <p:cNvSpPr/>
          <p:nvPr/>
        </p:nvSpPr>
        <p:spPr>
          <a:xfrm>
            <a:off x="574964" y="612647"/>
            <a:ext cx="955963" cy="45719"/>
          </a:xfrm>
          <a:prstGeom prst="rect">
            <a:avLst/>
          </a:prstGeom>
          <a:solidFill>
            <a:srgbClr val="00B4D8"/>
          </a:solidFill>
          <a:ln w="12700">
            <a:solidFill>
              <a:srgbClr val="00B4D8"/>
            </a:solidFill>
            <a:prstDash val="solid"/>
          </a:ln>
        </p:spPr>
        <p:txBody>
          <a:bodyPr/>
          <a:lstStyle/>
          <a:p>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25" name="Shape 23"/>
          <p:cNvSpPr/>
          <p:nvPr/>
        </p:nvSpPr>
        <p:spPr>
          <a:xfrm>
            <a:off x="782782" y="3757769"/>
            <a:ext cx="5569527" cy="786662"/>
          </a:xfrm>
          <a:prstGeom prst="rect">
            <a:avLst/>
          </a:prstGeom>
          <a:solidFill>
            <a:srgbClr val="00B4D8">
              <a:alpha val="90000"/>
            </a:srgbClr>
          </a:solidFill>
          <a:ln w="12700">
            <a:solidFill>
              <a:srgbClr val="00B4D8"/>
            </a:solidFill>
            <a:prstDash val="solid"/>
          </a:ln>
        </p:spPr>
        <p:txBody>
          <a:bodyPr/>
          <a:lstStyle/>
          <a:p>
            <a:pPr marL="0" indent="0" algn="ctr">
              <a:buNone/>
            </a:pPr>
            <a:r>
              <a:rPr lang="en-US" sz="1600" b="1">
                <a:solidFill>
                  <a:srgbClr val="0D1B2A"/>
                </a:solidFill>
                <a:latin typeface="Tahoma" panose="020B0604030504040204" pitchFamily="34" charset="0"/>
                <a:ea typeface="Tahoma" panose="020B0604030504040204" pitchFamily="34" charset="0"/>
                <a:cs typeface="Tahoma" panose="020B0604030504040204" pitchFamily="34" charset="0"/>
              </a:rPr>
              <a:t>Thank you for your attention I welcome your questions and feedback.</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6" name="Text 24"/>
          <p:cNvSpPr/>
          <p:nvPr/>
        </p:nvSpPr>
        <p:spPr>
          <a:xfrm>
            <a:off x="457200" y="4690872"/>
            <a:ext cx="8229600" cy="329184"/>
          </a:xfrm>
          <a:prstGeom prst="rect">
            <a:avLst/>
          </a:prstGeom>
          <a:noFill/>
          <a:ln/>
        </p:spPr>
        <p:txBody>
          <a:bodyPr wrap="square" rtlCol="0" anchor="ctr"/>
          <a:lstStyle/>
          <a:p>
            <a:pPr marL="0" indent="0" algn="ctr">
              <a:buNone/>
            </a:pP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7" name="Rectangle 26">
            <a:extLst>
              <a:ext uri="{FF2B5EF4-FFF2-40B4-BE49-F238E27FC236}">
                <a16:creationId xmlns:a16="http://schemas.microsoft.com/office/drawing/2014/main" id="{BD0B37A3-A1F8-BB16-2E3D-D63EC72B4B8C}"/>
              </a:ext>
            </a:extLst>
          </p:cNvPr>
          <p:cNvSpPr/>
          <p:nvPr/>
        </p:nvSpPr>
        <p:spPr>
          <a:xfrm>
            <a:off x="457200" y="804807"/>
            <a:ext cx="6920345" cy="2760801"/>
          </a:xfrm>
          <a:prstGeom prst="rect">
            <a:avLst/>
          </a:prstGeom>
          <a:solidFill>
            <a:srgbClr val="0D1B2A"/>
          </a:solidFill>
          <a:ln>
            <a:solidFill>
              <a:srgbClr val="00B4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This proposal system will allow every student at University Libre de Kigali to appeal their marks, follow up on their appeal, and receive a final decision using any ordinary cell phone without needing internet, without visiting any office, and without anyone else being able to access or tamper with their information. To make sure only the right student can use the system, each student is protected by a personal 4-digit PIN that is stored in a way that cannot be read or stolen.</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359</TotalTime>
  <Words>1227</Words>
  <Application>Microsoft Office PowerPoint</Application>
  <PresentationFormat>On-screen Show (16:9)</PresentationFormat>
  <Paragraphs>219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Tahoma</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Bentech</cp:lastModifiedBy>
  <cp:revision>6</cp:revision>
  <dcterms:created xsi:type="dcterms:W3CDTF">2026-06-04T10:59:17Z</dcterms:created>
  <dcterms:modified xsi:type="dcterms:W3CDTF">2026-06-11T16:43:06Z</dcterms:modified>
</cp:coreProperties>
</file>