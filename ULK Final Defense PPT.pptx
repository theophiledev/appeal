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675" autoAdjust="0"/>
  </p:normalViewPr>
  <p:slideViewPr>
    <p:cSldViewPr snapToGrid="0" snapToObjects="1">
      <p:cViewPr varScale="1">
        <p:scale>
          <a:sx n="80" d="100"/>
          <a:sy n="80" d="100"/>
        </p:scale>
        <p:origin x="8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62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yourself: name, registration number, programme. State the title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flow of the presentation. We have 7 sections. Slide 5 is the implementation demo which replaces the testing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current manual process. Survey involved 372 students and 19 HODs/Deans. Highlight the 76.3% and 97% stats  they tell the whole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specific objective. Each one maps to a chapter or section of the book. Objective 5 (testing</a:t>
            </a:r>
            <a:r>
              <a:rPr lang="en-US"/>
              <a:t>)  </a:t>
            </a:r>
            <a:r>
              <a:rPr lang="en-US" dirty="0"/>
              <a:t>note that for this presentation, we will demo the live system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DSR: the system itself IS the research contribution. Mention that 372 is a statistically valid sample for ULK's student population. Time scope correction was a panel comment  now clarified as 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actors: Student uses USSD, Africa's Talking is the gateway in the middle, Admin/HOD uses the web portal. All connected to MySQL database. No internet needed for </a:t>
            </a:r>
            <a:r>
              <a:rPr lang="en-US"/>
              <a:t>students  </a:t>
            </a:r>
            <a:r>
              <a:rPr lang="en-US" dirty="0"/>
              <a:t>USSD runs over GSM signalling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ORIGINAL CONTRIBUTION of the research. No prior study at ULK has implemented this mechanism. Emphasise: SHA-256 means even if the database is stolen, PINs cannot be recovered. The 3-strike lockout prevents brute-force.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tables. The pin_credentials table is the security </a:t>
            </a:r>
            <a:r>
              <a:rPr lang="en-US"/>
              <a:t>core  </a:t>
            </a:r>
            <a:r>
              <a:rPr lang="en-US" dirty="0"/>
              <a:t>stores SHA-256 hash, lock flag, failed attempts, and OTP. The access_audit table logs every USSD action. All normalised to </a:t>
            </a:r>
            <a:r>
              <a:rPr lang="en-US"/>
              <a:t>3NF  </a:t>
            </a:r>
            <a:r>
              <a:rPr lang="en-US" dirty="0"/>
              <a:t>no data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USSD does NOT need </a:t>
            </a:r>
            <a:r>
              <a:rPr lang="en-US"/>
              <a:t>internet  </a:t>
            </a:r>
            <a:r>
              <a:rPr lang="en-US" dirty="0"/>
              <a:t>this addresses the panel comment. It runs over the GSM signalling channel, same as SMS. Every student with a SIM card can access it. Emphasise the 180-second session timeout for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SLIDE. Open the browser now. Demo in order: 1) USSD session on AT simulator, 2) wrong PIN 3 times then OTP reset, 3) admin </a:t>
            </a:r>
            <a:r>
              <a:rPr lang="en-US"/>
              <a:t>portal  </a:t>
            </a:r>
            <a:r>
              <a:rPr lang="en-US" dirty="0"/>
              <a:t>show the appeal appeared, update it, 4) student checks status and sees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functional requirements passed. Average USSD response of 1.8 seconds is well within the Africa's Talking 30-second timeout. Zero critical defects found during acceptance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conclusions, one per objective. Stress the 'original contribution</a:t>
            </a:r>
            <a:r>
              <a:rPr lang="en-US"/>
              <a:t>'  </a:t>
            </a:r>
            <a:r>
              <a:rPr lang="en-US" dirty="0"/>
              <a:t>this was not done at ULK before. The panel will appreciate that conclusion 3 directly addresses their comment about USSD not needing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are </a:t>
            </a:r>
            <a:r>
              <a:rPr lang="en-US"/>
              <a:t>practical  </a:t>
            </a:r>
            <a:r>
              <a:rPr lang="en-US" dirty="0"/>
              <a:t>ULK can act on all five immediately. For further research, mention biometrics and AI as the most exciting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Invite questions. Likely panel questions: 1) Why USSD over a mobile app? (Answer: 97% own USSD phones, 0% need internet) 2) How secure is SHA-256? (Answer: NIST-recommended, computationally irreversible) 3) What happens if Africa's Talking goes down? (Answer: identified as a </a:t>
            </a:r>
            <a:r>
              <a:rPr lang="en-US"/>
              <a:t>limitation  </a:t>
            </a:r>
            <a:r>
              <a:rPr lang="en-US" dirty="0"/>
              <a:t>future work includes failover SMS gateway)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537"/>
            <a:ext cx="9144000" cy="77266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-228600" y="56412"/>
            <a:ext cx="9144000" cy="609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UNIVERSITE OF KIGALI (UoK)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860763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USSD-Based Marks Appeal System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6243" y="134651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F59E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PIN-Secured Student Authentication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4843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ADCF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Case Study of University Libre de Kigali (ULK)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 by: </a:t>
            </a: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BIKORIMANA Jean Baptiste</a:t>
            </a:r>
            <a:r>
              <a:rPr lang="en-US" sz="1300" dirty="0">
                <a:solidFill>
                  <a:srgbClr val="CADCF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|   Reg. No: 2205000458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Supervisor: </a:t>
            </a: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Mr. ISHIMWE Olivier Angel Kevin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Programme: </a:t>
            </a: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Bachelor of Information Technology (Final Year)  </a:t>
            </a:r>
            <a:r>
              <a:rPr lang="en-US" sz="1300" dirty="0">
                <a:solidFill>
                  <a:srgbClr val="CADCF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June 2026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Defense Presentation    2026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4091B7-3891-B597-274B-891A8C827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243" y="778802"/>
            <a:ext cx="1033514" cy="21087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 OUTLINE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57200" cy="548640"/>
          </a:xfrm>
          <a:prstGeom prst="roundRect">
            <a:avLst>
              <a:gd name="adj" fmla="val 12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 &amp; Problem Statement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EBF1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457200" cy="548640"/>
          </a:xfrm>
          <a:prstGeom prst="roundRect">
            <a:avLst>
              <a:gd name="adj" fmla="val 12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Objectives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423160"/>
            <a:ext cx="457200" cy="548640"/>
          </a:xfrm>
          <a:prstGeom prst="roundRect">
            <a:avLst>
              <a:gd name="adj" fmla="val 12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2423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0120" y="2423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Methodology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EBF1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3200400"/>
            <a:ext cx="457200" cy="548640"/>
          </a:xfrm>
          <a:prstGeom prst="roundRect">
            <a:avLst>
              <a:gd name="adj" fmla="val 12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Design &amp; Architecture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8229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92040" y="868680"/>
            <a:ext cx="457200" cy="548640"/>
          </a:xfrm>
          <a:prstGeom prst="roundRect">
            <a:avLst>
              <a:gd name="adj" fmla="val 12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92040" y="868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40680" y="868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 Demo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16002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EBF1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92040" y="1645920"/>
            <a:ext cx="457200" cy="548640"/>
          </a:xfrm>
          <a:prstGeom prst="roundRect">
            <a:avLst>
              <a:gd name="adj" fmla="val 12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9204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06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4068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Conclusions &amp; Recommendations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23774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92040" y="2423160"/>
            <a:ext cx="457200" cy="548640"/>
          </a:xfrm>
          <a:prstGeom prst="roundRect">
            <a:avLst>
              <a:gd name="adj" fmla="val 12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92040" y="2423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07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40680" y="2423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 &amp; 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 &amp; PROBLEM STATEMENT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14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C262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Problem at ULK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40690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Paper forms only  no digital channel
• Students visit office in person
• No real-time status notification
• Documents get lost or misplaced
• No identity authentication
• 2–6 weeks average resolution time
• No central record of all appeals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54879" y="822960"/>
            <a:ext cx="4299911" cy="4023360"/>
          </a:xfrm>
          <a:prstGeom prst="roundRect">
            <a:avLst>
              <a:gd name="adj" fmla="val 2273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9204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Our Survey Found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9204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76.3%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9360" y="1463040"/>
            <a:ext cx="2656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informed of status in real time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2040" y="2121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44.9%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09360" y="2121408"/>
            <a:ext cx="2656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waited 2–4 weeks for resolution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92040" y="2779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97.0%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09360" y="2779776"/>
            <a:ext cx="2656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own a USSD-capable phone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92040" y="34381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89.8%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09360" y="3438144"/>
            <a:ext cx="2656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prefer a USSD-based system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9204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94.7%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09360" y="4096512"/>
            <a:ext cx="2656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HODs: delayed responses are the #1 challenge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Objective: To design and implement a USSD-Based Marks Appeal System with PIN-Secured Student Authentication as a case study of ULK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508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103120" y="15087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existing marks appeal process at ULK and identify its key limitations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103120"/>
            <a:ext cx="841248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860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03120" y="21945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secure PIN authentication mechanism using SHA-256 hashing, 3-strike lockout, and OTP-based reset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9718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880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Develop: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103120" y="28803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USSD interface for marks viewing, appeal submission and status tracking  no internet required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3474720"/>
            <a:ext cx="841248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576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5661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Implement: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2103120" y="35661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web-based administration portal for administrators and HODs to manage all appeals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65760" y="4160520"/>
            <a:ext cx="841248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3434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4251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Evaluate: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2103120" y="42519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evaluate the system through unit, validation, integration, functional, and acceptance testing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METHODOLOGY</a:t>
            </a:r>
            <a:endParaRPr lang="en-US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Design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Mixed-methods: quantitative surveys + qualitative interviews using Design Science Research (DSR) framework</a:t>
            </a:r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8653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Population &amp; Sample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391 respondent's total: 372 students (stratified random sampling) + 19 HODs/Deans (census method)</a:t>
            </a:r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69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Collection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32644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Questionnaires, semi-structured interviews, document review of existing appeal records and registers</a:t>
            </a:r>
          </a:p>
        </p:txBody>
      </p:sp>
      <p:sp>
        <p:nvSpPr>
          <p:cNvPr id="13" name="Shape 11"/>
          <p:cNvSpPr/>
          <p:nvPr/>
        </p:nvSpPr>
        <p:spPr>
          <a:xfrm>
            <a:off x="274320" y="393192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39684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Scope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431596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February 2025 – June 2026 (18 months): collection</a:t>
            </a:r>
            <a:r>
              <a:rPr lang="en-US" sz="10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February 2026 to June 2026</a:t>
            </a:r>
            <a:r>
              <a:rPr lang="en-US" sz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development Oct 2025–Feb 2026</a:t>
            </a:r>
          </a:p>
        </p:txBody>
      </p:sp>
      <p:sp>
        <p:nvSpPr>
          <p:cNvPr id="16" name="Shape 14"/>
          <p:cNvSpPr/>
          <p:nvPr/>
        </p:nvSpPr>
        <p:spPr>
          <a:xfrm>
            <a:off x="5029200" y="777240"/>
            <a:ext cx="3840480" cy="4251960"/>
          </a:xfrm>
          <a:prstGeom prst="roundRect">
            <a:avLst>
              <a:gd name="adj" fmla="val 2381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6636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 Stack</a:t>
            </a:r>
            <a:endParaRPr lang="en-US" sz="140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66360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Backend:</a:t>
            </a:r>
            <a:endParaRPr lang="en-US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9224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3.10 + Flask 2.x</a:t>
            </a:r>
          </a:p>
        </p:txBody>
      </p:sp>
      <p:sp>
        <p:nvSpPr>
          <p:cNvPr id="20" name="Text 18"/>
          <p:cNvSpPr/>
          <p:nvPr/>
        </p:nvSpPr>
        <p:spPr>
          <a:xfrm>
            <a:off x="5166360" y="1847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Database:</a:t>
            </a:r>
            <a:endParaRPr lang="en-US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18470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 8.0 (Railway.app)</a:t>
            </a:r>
          </a:p>
        </p:txBody>
      </p:sp>
      <p:sp>
        <p:nvSpPr>
          <p:cNvPr id="22" name="Text 20"/>
          <p:cNvSpPr/>
          <p:nvPr/>
        </p:nvSpPr>
        <p:spPr>
          <a:xfrm>
            <a:off x="5166360" y="23682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USSD/SMS:</a:t>
            </a:r>
            <a:endParaRPr lang="en-US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240" y="2368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Africa's Talking API</a:t>
            </a:r>
          </a:p>
        </p:txBody>
      </p:sp>
      <p:sp>
        <p:nvSpPr>
          <p:cNvPr id="24" name="Text 22"/>
          <p:cNvSpPr/>
          <p:nvPr/>
        </p:nvSpPr>
        <p:spPr>
          <a:xfrm>
            <a:off x="5166360" y="288950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Security:</a:t>
            </a:r>
            <a:endParaRPr lang="en-US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92240" y="28895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SHA-256 hashing (hashlib)</a:t>
            </a:r>
          </a:p>
        </p:txBody>
      </p:sp>
      <p:sp>
        <p:nvSpPr>
          <p:cNvPr id="26" name="Text 24"/>
          <p:cNvSpPr/>
          <p:nvPr/>
        </p:nvSpPr>
        <p:spPr>
          <a:xfrm>
            <a:off x="5166360" y="34107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Frontend:</a:t>
            </a:r>
            <a:endParaRPr lang="en-US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92240" y="3410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Bootstrap 5 + Jinja2</a:t>
            </a:r>
          </a:p>
        </p:txBody>
      </p:sp>
      <p:sp>
        <p:nvSpPr>
          <p:cNvPr id="28" name="Text 26"/>
          <p:cNvSpPr/>
          <p:nvPr/>
        </p:nvSpPr>
        <p:spPr>
          <a:xfrm>
            <a:off x="516636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Deployment:</a:t>
            </a:r>
            <a:endParaRPr lang="en-US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9224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Render.com (HTTPS)</a:t>
            </a:r>
          </a:p>
        </p:txBody>
      </p:sp>
      <p:sp>
        <p:nvSpPr>
          <p:cNvPr id="30" name="Text 28"/>
          <p:cNvSpPr/>
          <p:nvPr/>
        </p:nvSpPr>
        <p:spPr>
          <a:xfrm>
            <a:off x="5166360" y="44531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 Method:</a:t>
            </a:r>
            <a:endParaRPr lang="en-US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92240" y="4453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Agile  6 Sprints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DESIGN &amp; ARCHITECTURE</a:t>
            </a:r>
            <a:endParaRPr lang="en-US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5473" y="777240"/>
            <a:ext cx="2826327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8686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4320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GSM Phone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11480" y="2176272"/>
            <a:ext cx="2377440" cy="0"/>
          </a:xfrm>
          <a:prstGeom prst="line">
            <a:avLst/>
          </a:prstGeom>
          <a:noFill/>
          <a:ln w="12700">
            <a:solidFill>
              <a:srgbClr val="D0DFF5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00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Dial USSD short code(</a:t>
            </a:r>
            <a:r>
              <a:rPr lang="en-US" sz="12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*384*44158#</a:t>
            </a: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0" name="Text 7"/>
          <p:cNvSpPr/>
          <p:nvPr/>
        </p:nvSpPr>
        <p:spPr>
          <a:xfrm>
            <a:off x="365760" y="26243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Register / Enter PIN</a:t>
            </a:r>
          </a:p>
        </p:txBody>
      </p:sp>
      <p:sp>
        <p:nvSpPr>
          <p:cNvPr id="11" name="Text 8"/>
          <p:cNvSpPr/>
          <p:nvPr/>
        </p:nvSpPr>
        <p:spPr>
          <a:xfrm>
            <a:off x="365760" y="29626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View marks</a:t>
            </a:r>
          </a:p>
        </p:txBody>
      </p:sp>
      <p:sp>
        <p:nvSpPr>
          <p:cNvPr id="12" name="Text 9"/>
          <p:cNvSpPr/>
          <p:nvPr/>
        </p:nvSpPr>
        <p:spPr>
          <a:xfrm>
            <a:off x="365760" y="3300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Submit appeal</a:t>
            </a:r>
          </a:p>
        </p:txBody>
      </p:sp>
      <p:sp>
        <p:nvSpPr>
          <p:cNvPr id="13" name="Text 10"/>
          <p:cNvSpPr/>
          <p:nvPr/>
        </p:nvSpPr>
        <p:spPr>
          <a:xfrm>
            <a:off x="365760" y="3639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Check appeal status</a:t>
            </a:r>
          </a:p>
        </p:txBody>
      </p:sp>
      <p:sp>
        <p:nvSpPr>
          <p:cNvPr id="14" name="Shape 11"/>
          <p:cNvSpPr/>
          <p:nvPr/>
        </p:nvSpPr>
        <p:spPr>
          <a:xfrm>
            <a:off x="3200400" y="77724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86868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USSD GATEWAY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246120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Africa's Talking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383280" y="2176272"/>
            <a:ext cx="2377440" cy="0"/>
          </a:xfrm>
          <a:prstGeom prst="line">
            <a:avLst/>
          </a:prstGeom>
          <a:noFill/>
          <a:ln w="12700">
            <a:solidFill>
              <a:srgbClr val="D0DFF5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33756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Receives GSM input</a:t>
            </a:r>
          </a:p>
        </p:txBody>
      </p:sp>
      <p:sp>
        <p:nvSpPr>
          <p:cNvPr id="20" name="Text 16"/>
          <p:cNvSpPr/>
          <p:nvPr/>
        </p:nvSpPr>
        <p:spPr>
          <a:xfrm>
            <a:off x="3337560" y="26243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HTTP POST to Flask</a:t>
            </a:r>
          </a:p>
        </p:txBody>
      </p:sp>
      <p:sp>
        <p:nvSpPr>
          <p:cNvPr id="21" name="Text 17"/>
          <p:cNvSpPr/>
          <p:nvPr/>
        </p:nvSpPr>
        <p:spPr>
          <a:xfrm>
            <a:off x="3337560" y="29626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Returns CON/END</a:t>
            </a:r>
          </a:p>
        </p:txBody>
      </p:sp>
      <p:sp>
        <p:nvSpPr>
          <p:cNvPr id="22" name="Text 18"/>
          <p:cNvSpPr/>
          <p:nvPr/>
        </p:nvSpPr>
        <p:spPr>
          <a:xfrm>
            <a:off x="3337560" y="3300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Delivers OTP via SMS</a:t>
            </a:r>
          </a:p>
        </p:txBody>
      </p:sp>
      <p:sp>
        <p:nvSpPr>
          <p:cNvPr id="23" name="Text 19"/>
          <p:cNvSpPr/>
          <p:nvPr/>
        </p:nvSpPr>
        <p:spPr>
          <a:xfrm>
            <a:off x="3337560" y="3639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Session management</a:t>
            </a:r>
          </a:p>
        </p:txBody>
      </p:sp>
      <p:sp>
        <p:nvSpPr>
          <p:cNvPr id="24" name="Shape 20"/>
          <p:cNvSpPr/>
          <p:nvPr/>
        </p:nvSpPr>
        <p:spPr>
          <a:xfrm>
            <a:off x="6172200" y="77724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868680"/>
            <a:ext cx="594360" cy="5943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1792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 / HOD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217920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Browser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355080" y="2176272"/>
            <a:ext cx="2377440" cy="0"/>
          </a:xfrm>
          <a:prstGeom prst="line">
            <a:avLst/>
          </a:prstGeom>
          <a:noFill/>
          <a:ln w="12700">
            <a:solidFill>
              <a:srgbClr val="D0DFF5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630936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Login to portal</a:t>
            </a:r>
          </a:p>
        </p:txBody>
      </p:sp>
      <p:sp>
        <p:nvSpPr>
          <p:cNvPr id="30" name="Text 25"/>
          <p:cNvSpPr/>
          <p:nvPr/>
        </p:nvSpPr>
        <p:spPr>
          <a:xfrm>
            <a:off x="6309360" y="26243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View all appeals</a:t>
            </a:r>
          </a:p>
        </p:txBody>
      </p:sp>
      <p:sp>
        <p:nvSpPr>
          <p:cNvPr id="31" name="Text 26"/>
          <p:cNvSpPr/>
          <p:nvPr/>
        </p:nvSpPr>
        <p:spPr>
          <a:xfrm>
            <a:off x="6309360" y="29626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Update status</a:t>
            </a:r>
          </a:p>
        </p:txBody>
      </p:sp>
      <p:sp>
        <p:nvSpPr>
          <p:cNvPr id="32" name="Text 27"/>
          <p:cNvSpPr/>
          <p:nvPr/>
        </p:nvSpPr>
        <p:spPr>
          <a:xfrm>
            <a:off x="6309360" y="3300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Review audit log</a:t>
            </a:r>
          </a:p>
        </p:txBody>
      </p:sp>
      <p:sp>
        <p:nvSpPr>
          <p:cNvPr id="33" name="Text 28"/>
          <p:cNvSpPr/>
          <p:nvPr/>
        </p:nvSpPr>
        <p:spPr>
          <a:xfrm>
            <a:off x="6309360" y="36393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▸  Download records</a:t>
            </a:r>
          </a:p>
        </p:txBody>
      </p:sp>
      <p:sp>
        <p:nvSpPr>
          <p:cNvPr id="34" name="Shape 29"/>
          <p:cNvSpPr/>
          <p:nvPr/>
        </p:nvSpPr>
        <p:spPr>
          <a:xfrm>
            <a:off x="2971800" y="2880360"/>
            <a:ext cx="228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2907792" y="27432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↔</a:t>
            </a:r>
          </a:p>
        </p:txBody>
      </p:sp>
      <p:sp>
        <p:nvSpPr>
          <p:cNvPr id="36" name="Shape 31"/>
          <p:cNvSpPr/>
          <p:nvPr/>
        </p:nvSpPr>
        <p:spPr>
          <a:xfrm>
            <a:off x="5943600" y="2880360"/>
            <a:ext cx="228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5879592" y="27432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↔</a:t>
            </a:r>
          </a:p>
        </p:txBody>
      </p:sp>
      <p:sp>
        <p:nvSpPr>
          <p:cNvPr id="38" name="Shape 33"/>
          <p:cNvSpPr/>
          <p:nvPr/>
        </p:nvSpPr>
        <p:spPr>
          <a:xfrm>
            <a:off x="3040380" y="457865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4626864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3456432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 8.0  7 Tables  |  Render.com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ORIGINAL CONTRIBUTION  PIN SECURITY MECHANISM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60020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868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Enters PIN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" y="26974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PIN entered via USSD keypad on any GSM phone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10512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5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984248" y="777240"/>
            <a:ext cx="160020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32888" y="868680"/>
            <a:ext cx="502920" cy="50292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32888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146304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48256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Hashing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048256" y="26974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hashlib.sha256(pin.encode()).hexdigest()  64-char digest, plaintext NEVER stored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6616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5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3739896" y="777240"/>
            <a:ext cx="160020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288536" y="868680"/>
            <a:ext cx="502920" cy="50292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288536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146304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03904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Comparison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803904" y="26974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PIN compared against stored hash in pin_credentials table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321808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5A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5495544" y="777240"/>
            <a:ext cx="160020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044184" y="8686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044184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1463040"/>
            <a:ext cx="594360" cy="5943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59552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3-Strike Lockout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559552" y="26974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wrong attempts → is_locked = 1. Account locked, student cannot retry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077456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5A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7251192" y="777240"/>
            <a:ext cx="160020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799832" y="8686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799832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2" y="1463040"/>
            <a:ext cx="594360" cy="5943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15200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OTP Reset via SMS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315200" y="269748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OTP sent via Africa's Talking SMS API. Expires in 10 minutes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228600" y="4389120"/>
            <a:ext cx="8686800" cy="594360"/>
          </a:xfrm>
          <a:prstGeom prst="roundRect">
            <a:avLst>
              <a:gd name="adj" fmla="val 12308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274320" y="43891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SHA-256  |  3-Strike Lockout  |  OTP SMS Reset (10-min expiry)  |  NIST SP 800-63B Compliant  |  No Plaintext PIN Ever Stored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 DESIGN  7-TABLE RELATIONAL SCHEMA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1463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82296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· full_name · phone · department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8288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82880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· password (SHA-256 hash)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83464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2834640"/>
            <a:ext cx="1463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· module_name · mark · semester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84048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8404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3840480"/>
            <a:ext cx="1463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appeal_status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384048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status_name: Pending / Approved / Rejected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82296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822960"/>
            <a:ext cx="1463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82296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· module · reason · status_id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8288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82880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pin_credentials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pin_hash · failed_attempts · is_locked · otp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834640"/>
            <a:ext cx="1463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access_audit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83464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· action · success · timestamp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315968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43159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normalised to 3NF  ·  Full foreign key constraints  ·  UTF8MB4 charset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USSD MENU FLOW  STUDENT INTERACTION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2286000" cy="3108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37560" y="932688"/>
            <a:ext cx="365760" cy="36576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37560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94760" y="822960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13632" y="8595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Dial short code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13632" y="115214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dials 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*384*44158# </a:t>
            </a:r>
            <a:r>
              <a:rPr lang="en-US" sz="1200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Africa's Talking sends HTTP POST to Flask /ussd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02152" y="1298448"/>
            <a:ext cx="0" cy="347472"/>
          </a:xfrm>
          <a:prstGeom prst="line">
            <a:avLst/>
          </a:prstGeom>
          <a:noFill/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37560" y="1737360"/>
            <a:ext cx="365760" cy="36576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94760" y="1627632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13632" y="1664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Enter Student ID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13632" y="1956816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Flask prompts for registration number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502152" y="2103120"/>
            <a:ext cx="0" cy="347472"/>
          </a:xfrm>
          <a:prstGeom prst="line">
            <a:avLst/>
          </a:prstGeom>
          <a:noFill/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37560" y="2542032"/>
            <a:ext cx="365760" cy="36576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3756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794760" y="2432304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13632" y="2468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Enter PIN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913632" y="27614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enters 4-digit PIN  Flask hashes and compares against DB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502152" y="2907792"/>
            <a:ext cx="0" cy="347472"/>
          </a:xfrm>
          <a:prstGeom prst="line">
            <a:avLst/>
          </a:prstGeom>
          <a:noFill/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37560" y="3346704"/>
            <a:ext cx="365760" cy="36576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3756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4760" y="3236976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913632" y="3273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Select action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913632" y="356616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Authenticated: view marks, submit appeal, or check status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502152" y="3712464"/>
            <a:ext cx="0" cy="347472"/>
          </a:xfrm>
          <a:prstGeom prst="line">
            <a:avLst/>
          </a:prstGeom>
          <a:noFill/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337560" y="4151376"/>
            <a:ext cx="365760" cy="36576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3756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794760" y="4041648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913632" y="40782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Get response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13632" y="437083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Flask returns CON (continue) or END (terminate) to student's screen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99F7337-29A0-39D9-5D4E-1210E24FF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00" y="733799"/>
            <a:ext cx="2118073" cy="42014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 DEMO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Walkthrough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2D5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USSD Session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8328" y="192024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dial short code → PIN auth → view marks → submit appeal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3258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2D5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630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Lockout &amp; Reset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10128" y="192024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wrong PIN 3 times → account locks → OTP received via SMS → reset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72200" y="13258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2D5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4630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81928" y="192024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web portal → view all appeals → update status to Approved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28600" y="28346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2D5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9718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38328" y="34290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access_audit table  every USSD event logged with timestamp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00400" y="28346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2D5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9718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Records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310128" y="34290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MySQL: appeals table updated in real-time after USSD submission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172200" y="28346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2D5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97180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Status Check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281928" y="34290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dials again → checks status → sees 'Approved' in real time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deployed on Render.com  ·  Africa's Talking Sandbox  ·  MySQL on Railway.app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RESULTS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" y="17190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37 Test Cases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23160" y="17190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User Participants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17190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USSD 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(Target: &lt; 5 sec)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7772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914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12280" y="17190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Defects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Testing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743200"/>
            <a:ext cx="8686800" cy="502920"/>
          </a:xfrm>
          <a:prstGeom prst="roundRect">
            <a:avLst>
              <a:gd name="adj" fmla="val 14545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743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Phases: Unit (10) · Validation (8) · Integration (7) · Functional &amp; System (12) · Acceptance (70 tasks)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10 Functional Requirements Successfully Met: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83133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" y="37947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FR1: PIN Registration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78224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" y="40416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FR2: PIN Authentication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25112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" y="428853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FR3: 3-Strike Lockout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" y="453542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FR4: OTP Reset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1888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" y="478231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FR5: Marks Viewing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831336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65192" y="37947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FR6: Appeal Submission</a:t>
            </a:r>
            <a:endParaRPr lang="en-US" sz="12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078224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965192" y="40416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FR7: Status Check</a:t>
            </a:r>
            <a:endParaRPr lang="en-US" sz="12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325112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965192" y="428853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FR8: Admin Dashboard</a:t>
            </a:r>
            <a:endParaRPr lang="en-US" sz="12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57200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965192" y="453542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FR9: Status Management</a:t>
            </a:r>
            <a:endParaRPr lang="en-US" sz="12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818888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965192" y="478231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FR10: Audit Logging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CONCLUSIONS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926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41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Confirmed: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1887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confirmed ULK's appeal process is manual, slow, and insecure  76.3% of students never informed of status in real time.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28600" y="1645920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8105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682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Achieved: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20299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PIN hashing, 3-strike lockout, and OTP reset constitute an original and NIST-compliant authentication mechanism.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28600" y="2487168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6517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5237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Achieved: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2960" y="287121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ULK students already own USSD-capable phones. The system works on ANY phone with a SIM  no internet, no smartphone needed.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228600" y="3328416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49300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364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Improved: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2960" y="37124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centralised web portal gives administrators and HODs a single dashboard replacing fragmented paper-based appeal management.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228600" y="4169664"/>
            <a:ext cx="8686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33425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Contribution: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822960" y="45537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study at ULK to implement PIN-based USSD authentication for an academic service. Fills a documented gap in East African literature.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RECOMMENDATIONS &amp; FURTHER RESEARCH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51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868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" y="1417320"/>
            <a:ext cx="4069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ULK should deploy the system live with a registered USSD short code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984248"/>
            <a:ext cx="397764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2039112"/>
            <a:ext cx="4069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Integrate with the existing Student Information System (SIS)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606040"/>
            <a:ext cx="397764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3227832"/>
            <a:ext cx="397764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" y="2728514"/>
            <a:ext cx="4069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Train all HODs and admin staff on the web portal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849624"/>
            <a:ext cx="397764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3364992"/>
            <a:ext cx="40690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Conduct a formal penetration test before production launch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777240"/>
            <a:ext cx="4251960" cy="4206240"/>
          </a:xfrm>
          <a:prstGeom prst="roundRect">
            <a:avLst>
              <a:gd name="adj" fmla="val 2174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8686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868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 for Further Research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773168" y="144475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120640" y="13898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(fingerprint/voice) authentication for USSD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73168" y="20665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120640" y="20116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appeal outcome prediction system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773168" y="268833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120640" y="26334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Multi-institution deployment across Rwanda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773168" y="33101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120640" y="32552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companion for smartphone users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773168" y="39319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120640" y="38770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study of real appeal resolution times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6400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31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371600" y="3657600"/>
            <a:ext cx="6400800" cy="0"/>
          </a:xfrm>
          <a:prstGeom prst="line">
            <a:avLst/>
          </a:prstGeom>
          <a:noFill/>
          <a:ln w="12700">
            <a:solidFill>
              <a:srgbClr val="3B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BIKORIMANA Jean Baptiste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Reg. No: 2205000458  ·  Bachelor of 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ISHIMWE Olivier Angel Kevin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"Any student with a SIM card can now appeal their marks  securely, instantly, from any phone."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1861</Words>
  <Application>Microsoft Office PowerPoint</Application>
  <PresentationFormat>On-screen Show (16:9)</PresentationFormat>
  <Paragraphs>247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USSD-Based Marks Appeal System — Final Defense</dc:title>
  <dc:subject>PptxGenJS Presentation</dc:subject>
  <dc:creator>BIKORIMANA Jean Baptiste</dc:creator>
  <cp:lastModifiedBy>Bentech</cp:lastModifiedBy>
  <cp:revision>2</cp:revision>
  <dcterms:created xsi:type="dcterms:W3CDTF">2026-06-17T23:10:38Z</dcterms:created>
  <dcterms:modified xsi:type="dcterms:W3CDTF">2026-06-18T11:57:23Z</dcterms:modified>
</cp:coreProperties>
</file>